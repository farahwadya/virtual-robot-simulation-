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18"/>
  </p:notesMasterIdLst>
  <p:sldIdLst>
    <p:sldId id="256" r:id="rId2"/>
    <p:sldId id="258" r:id="rId3"/>
    <p:sldId id="260" r:id="rId4"/>
    <p:sldId id="312" r:id="rId5"/>
    <p:sldId id="257" r:id="rId6"/>
    <p:sldId id="314" r:id="rId7"/>
    <p:sldId id="313" r:id="rId8"/>
    <p:sldId id="315" r:id="rId9"/>
    <p:sldId id="316" r:id="rId10"/>
    <p:sldId id="317" r:id="rId11"/>
    <p:sldId id="320" r:id="rId12"/>
    <p:sldId id="261" r:id="rId13"/>
    <p:sldId id="318" r:id="rId14"/>
    <p:sldId id="321" r:id="rId15"/>
    <p:sldId id="319" r:id="rId16"/>
    <p:sldId id="267" r:id="rId17"/>
  </p:sldIdLst>
  <p:sldSz cx="9144000" cy="5143500" type="screen16x9"/>
  <p:notesSz cx="6858000" cy="9144000"/>
  <p:embeddedFontLst>
    <p:embeddedFont>
      <p:font typeface="Archivo" panose="020B0604020202020204" charset="0"/>
      <p:regular r:id="rId19"/>
      <p:bold r:id="rId20"/>
      <p:italic r:id="rId21"/>
      <p:boldItalic r:id="rId22"/>
    </p:embeddedFont>
    <p:embeddedFont>
      <p:font typeface="Franklin Gothic Book" panose="020B0503020102020204" pitchFamily="34" charset="0"/>
      <p:regular r:id="rId23"/>
      <p:italic r:id="rId24"/>
    </p:embeddedFont>
    <p:embeddedFont>
      <p:font typeface="Franklin Gothic Demi" panose="020B0703020102020204" pitchFamily="34" charset="0"/>
      <p:regular r:id="rId25"/>
      <p:italic r:id="rId26"/>
    </p:embeddedFont>
    <p:embeddedFont>
      <p:font typeface="Franklin Gothic Demi Cond" panose="020B0706030402020204" pitchFamily="34" charset="0"/>
      <p:regular r:id="rId27"/>
    </p:embeddedFont>
    <p:embeddedFont>
      <p:font typeface="Franklin Gothic Medium" panose="020B0603020102020204" pitchFamily="34" charset="0"/>
      <p:regular r:id="rId28"/>
      <p:italic r:id="rId29"/>
    </p:embeddedFont>
    <p:embeddedFont>
      <p:font typeface="IBM Plex Mono" panose="020B0509050203000203" pitchFamily="49" charset="0"/>
      <p:regular r:id="rId30"/>
      <p:bold r:id="rId31"/>
      <p:italic r:id="rId32"/>
      <p:boldItalic r:id="rId33"/>
    </p:embeddedFont>
    <p:embeddedFont>
      <p:font typeface="Nunito Light" pitchFamily="2" charset="0"/>
      <p:regular r:id="rId34"/>
      <p: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99F9"/>
    <a:srgbClr val="130994"/>
    <a:srgbClr val="3C3C45"/>
    <a:srgbClr val="6F79E3"/>
    <a:srgbClr val="5454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66F8ABF-FFE5-4B5D-AFAB-0B7489E6EA8E}">
  <a:tblStyle styleId="{A66F8ABF-FFE5-4B5D-AFAB-0B7489E6EA8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18DC7FE-2EC5-4A99-A8B3-73F101275F3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7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92581b7e23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92581b7e23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92581b7e23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92581b7e23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2933ed14694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933ed14694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92a81341b2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92a81341b2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>
          <a:extLst>
            <a:ext uri="{FF2B5EF4-FFF2-40B4-BE49-F238E27FC236}">
              <a16:creationId xmlns:a16="http://schemas.microsoft.com/office/drawing/2014/main" id="{85910FDB-6D54-049F-F2D5-C14104488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92a81341b2_2_4:notes">
            <a:extLst>
              <a:ext uri="{FF2B5EF4-FFF2-40B4-BE49-F238E27FC236}">
                <a16:creationId xmlns:a16="http://schemas.microsoft.com/office/drawing/2014/main" id="{FF7B1FC5-5C74-C41E-A428-2FF5B240FF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92a81341b2_2_4:notes">
            <a:extLst>
              <a:ext uri="{FF2B5EF4-FFF2-40B4-BE49-F238E27FC236}">
                <a16:creationId xmlns:a16="http://schemas.microsoft.com/office/drawing/2014/main" id="{A3A0C124-1B37-EF46-D49C-005E96958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47792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>
          <a:extLst>
            <a:ext uri="{FF2B5EF4-FFF2-40B4-BE49-F238E27FC236}">
              <a16:creationId xmlns:a16="http://schemas.microsoft.com/office/drawing/2014/main" id="{4D85FD75-231E-07CF-A223-1C4E41FD3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92581b7e23_0_92:notes">
            <a:extLst>
              <a:ext uri="{FF2B5EF4-FFF2-40B4-BE49-F238E27FC236}">
                <a16:creationId xmlns:a16="http://schemas.microsoft.com/office/drawing/2014/main" id="{2722A319-B1F1-3D37-BC81-DD02C1D5EF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92581b7e23_0_92:notes">
            <a:extLst>
              <a:ext uri="{FF2B5EF4-FFF2-40B4-BE49-F238E27FC236}">
                <a16:creationId xmlns:a16="http://schemas.microsoft.com/office/drawing/2014/main" id="{9FC8B715-12CA-C4E6-0603-DB492BA883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7039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>
          <a:extLst>
            <a:ext uri="{FF2B5EF4-FFF2-40B4-BE49-F238E27FC236}">
              <a16:creationId xmlns:a16="http://schemas.microsoft.com/office/drawing/2014/main" id="{324A0624-03D9-7D5C-1E68-3668D6CDF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92581b7e23_0_92:notes">
            <a:extLst>
              <a:ext uri="{FF2B5EF4-FFF2-40B4-BE49-F238E27FC236}">
                <a16:creationId xmlns:a16="http://schemas.microsoft.com/office/drawing/2014/main" id="{7A350E66-D941-FAA1-1B6C-CA793C37D6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92581b7e23_0_92:notes">
            <a:extLst>
              <a:ext uri="{FF2B5EF4-FFF2-40B4-BE49-F238E27FC236}">
                <a16:creationId xmlns:a16="http://schemas.microsoft.com/office/drawing/2014/main" id="{C392B3A1-BE99-72E3-47CF-AC149F0B6B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39223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>
          <a:extLst>
            <a:ext uri="{FF2B5EF4-FFF2-40B4-BE49-F238E27FC236}">
              <a16:creationId xmlns:a16="http://schemas.microsoft.com/office/drawing/2014/main" id="{AE86FBCF-7ACF-E17C-99DB-2F5C43CB6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92581b7e23_0_92:notes">
            <a:extLst>
              <a:ext uri="{FF2B5EF4-FFF2-40B4-BE49-F238E27FC236}">
                <a16:creationId xmlns:a16="http://schemas.microsoft.com/office/drawing/2014/main" id="{7677B625-3ADD-F1C1-018C-6EF8832BDB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92581b7e23_0_92:notes">
            <a:extLst>
              <a:ext uri="{FF2B5EF4-FFF2-40B4-BE49-F238E27FC236}">
                <a16:creationId xmlns:a16="http://schemas.microsoft.com/office/drawing/2014/main" id="{088BF1DA-9ED1-46BC-15DD-D4B1BFB2FA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92001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A59D3B76-61F0-890E-2EF5-802A6A9AD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92a81341b2_2_61:notes">
            <a:extLst>
              <a:ext uri="{FF2B5EF4-FFF2-40B4-BE49-F238E27FC236}">
                <a16:creationId xmlns:a16="http://schemas.microsoft.com/office/drawing/2014/main" id="{CCFC50BD-7F72-61A9-7EBA-186725839E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92a81341b2_2_61:notes">
            <a:extLst>
              <a:ext uri="{FF2B5EF4-FFF2-40B4-BE49-F238E27FC236}">
                <a16:creationId xmlns:a16="http://schemas.microsoft.com/office/drawing/2014/main" id="{81D49FF8-A95C-FDF4-8A80-4E77012D8C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8048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73FABC8E-E916-7BB1-472E-BA9141CE8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92a81341b2_2_61:notes">
            <a:extLst>
              <a:ext uri="{FF2B5EF4-FFF2-40B4-BE49-F238E27FC236}">
                <a16:creationId xmlns:a16="http://schemas.microsoft.com/office/drawing/2014/main" id="{1ACF8BD8-F9CC-0E87-32B2-212249F6FC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92a81341b2_2_61:notes">
            <a:extLst>
              <a:ext uri="{FF2B5EF4-FFF2-40B4-BE49-F238E27FC236}">
                <a16:creationId xmlns:a16="http://schemas.microsoft.com/office/drawing/2014/main" id="{0BFD7284-E0E7-6580-C5DC-28DC983EE7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58382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92a81341b2_2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92a81341b2_2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0383EEAA-BDD3-DF1B-D594-C30BFC2C9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92a81341b2_2_61:notes">
            <a:extLst>
              <a:ext uri="{FF2B5EF4-FFF2-40B4-BE49-F238E27FC236}">
                <a16:creationId xmlns:a16="http://schemas.microsoft.com/office/drawing/2014/main" id="{DF085989-E2AD-6B67-29D8-D36B8F3629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92a81341b2_2_61:notes">
            <a:extLst>
              <a:ext uri="{FF2B5EF4-FFF2-40B4-BE49-F238E27FC236}">
                <a16:creationId xmlns:a16="http://schemas.microsoft.com/office/drawing/2014/main" id="{447C9F6D-7E8C-3B3A-DB42-34E09887AD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23238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5BEC33E6-87CE-D3E3-9A59-448EB45FA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92a81341b2_2_61:notes">
            <a:extLst>
              <a:ext uri="{FF2B5EF4-FFF2-40B4-BE49-F238E27FC236}">
                <a16:creationId xmlns:a16="http://schemas.microsoft.com/office/drawing/2014/main" id="{2C394BDF-7C88-6788-5A9C-584EAE987C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92a81341b2_2_61:notes">
            <a:extLst>
              <a:ext uri="{FF2B5EF4-FFF2-40B4-BE49-F238E27FC236}">
                <a16:creationId xmlns:a16="http://schemas.microsoft.com/office/drawing/2014/main" id="{60635153-A735-978D-7DE7-2BB959864C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7206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A20DDDEF-9E4D-4284-4B1E-6591A02E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92a81341b2_2_61:notes">
            <a:extLst>
              <a:ext uri="{FF2B5EF4-FFF2-40B4-BE49-F238E27FC236}">
                <a16:creationId xmlns:a16="http://schemas.microsoft.com/office/drawing/2014/main" id="{D86ABABB-CAC0-C330-B8B3-202AD96C09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92a81341b2_2_61:notes">
            <a:extLst>
              <a:ext uri="{FF2B5EF4-FFF2-40B4-BE49-F238E27FC236}">
                <a16:creationId xmlns:a16="http://schemas.microsoft.com/office/drawing/2014/main" id="{10FF67D7-9E78-9465-C0FC-B69475F747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86638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292581b7e23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292581b7e23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234950" y="1398100"/>
            <a:ext cx="6486900" cy="15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572000" y="3461550"/>
            <a:ext cx="2947500" cy="3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268674" y="-322162"/>
            <a:ext cx="9371984" cy="3960713"/>
            <a:chOff x="-268674" y="-322162"/>
            <a:chExt cx="9371984" cy="3960713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25762" y="151638"/>
              <a:ext cx="8692477" cy="1388125"/>
              <a:chOff x="225762" y="151638"/>
              <a:chExt cx="8692477" cy="138812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rot="10800000">
                <a:off x="6955037" y="151638"/>
                <a:ext cx="1963202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rot="10800000" flipH="1">
                <a:off x="225762" y="151638"/>
                <a:ext cx="1963202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6" name="Google Shape;16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7371875" y="1504250"/>
              <a:ext cx="2700599" cy="506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2"/>
            <p:cNvPicPr preferRelativeResize="0"/>
            <p:nvPr/>
          </p:nvPicPr>
          <p:blipFill rotWithShape="1">
            <a:blip r:embed="rId4">
              <a:alphaModFix/>
            </a:blip>
            <a:srcRect t="53277"/>
            <a:stretch/>
          </p:blipFill>
          <p:spPr>
            <a:xfrm rot="10800000">
              <a:off x="-268674" y="2723000"/>
              <a:ext cx="1861925" cy="9155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>
              <a:off x="7192572" y="-370975"/>
              <a:ext cx="1861925" cy="19595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1902336" y="2352475"/>
            <a:ext cx="5067600" cy="10470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2042402" y="1436575"/>
            <a:ext cx="1995000" cy="9159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1902324" y="3344388"/>
            <a:ext cx="5067600" cy="3750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720000" y="1063350"/>
            <a:ext cx="7704000" cy="33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8" name="Google Shape;28;p4"/>
          <p:cNvGrpSpPr/>
          <p:nvPr/>
        </p:nvGrpSpPr>
        <p:grpSpPr>
          <a:xfrm>
            <a:off x="117372" y="1337863"/>
            <a:ext cx="8848827" cy="2467774"/>
            <a:chOff x="117372" y="1337863"/>
            <a:chExt cx="8848827" cy="2467774"/>
          </a:xfrm>
        </p:grpSpPr>
        <p:pic>
          <p:nvPicPr>
            <p:cNvPr id="29" name="Google Shape;29;p4"/>
            <p:cNvPicPr preferRelativeResize="0"/>
            <p:nvPr/>
          </p:nvPicPr>
          <p:blipFill rotWithShape="1">
            <a:blip r:embed="rId2">
              <a:alphaModFix/>
            </a:blip>
            <a:srcRect b="23112"/>
            <a:stretch/>
          </p:blipFill>
          <p:spPr>
            <a:xfrm rot="-5400000">
              <a:off x="7499961" y="2339387"/>
              <a:ext cx="2467751" cy="464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-885049" y="2340284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7" name="Google Shape;67;p8"/>
          <p:cNvGrpSpPr/>
          <p:nvPr/>
        </p:nvGrpSpPr>
        <p:grpSpPr>
          <a:xfrm>
            <a:off x="182700" y="151649"/>
            <a:ext cx="8778600" cy="4853775"/>
            <a:chOff x="182700" y="151649"/>
            <a:chExt cx="8778600" cy="4853775"/>
          </a:xfrm>
        </p:grpSpPr>
        <p:pic>
          <p:nvPicPr>
            <p:cNvPr id="68" name="Google Shape;68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232175" y="4603999"/>
              <a:ext cx="1729125" cy="401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2700" y="151649"/>
              <a:ext cx="1729125" cy="401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2298600" y="1619250"/>
            <a:ext cx="4546800" cy="18495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720000" y="2209200"/>
            <a:ext cx="283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2"/>
          </p:nvPr>
        </p:nvSpPr>
        <p:spPr>
          <a:xfrm>
            <a:off x="4214900" y="2209200"/>
            <a:ext cx="283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3"/>
          </p:nvPr>
        </p:nvSpPr>
        <p:spPr>
          <a:xfrm>
            <a:off x="720000" y="3942375"/>
            <a:ext cx="283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4"/>
          </p:nvPr>
        </p:nvSpPr>
        <p:spPr>
          <a:xfrm>
            <a:off x="4214900" y="3942375"/>
            <a:ext cx="283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5" hasCustomPrompt="1"/>
          </p:nvPr>
        </p:nvSpPr>
        <p:spPr>
          <a:xfrm>
            <a:off x="821600" y="1332025"/>
            <a:ext cx="904800" cy="4476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6" hasCustomPrompt="1"/>
          </p:nvPr>
        </p:nvSpPr>
        <p:spPr>
          <a:xfrm>
            <a:off x="821600" y="3064618"/>
            <a:ext cx="904800" cy="4476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7" hasCustomPrompt="1"/>
          </p:nvPr>
        </p:nvSpPr>
        <p:spPr>
          <a:xfrm>
            <a:off x="4316491" y="1332025"/>
            <a:ext cx="904800" cy="4476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8" hasCustomPrompt="1"/>
          </p:nvPr>
        </p:nvSpPr>
        <p:spPr>
          <a:xfrm>
            <a:off x="4316491" y="3064618"/>
            <a:ext cx="904800" cy="4476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9"/>
          </p:nvPr>
        </p:nvSpPr>
        <p:spPr>
          <a:xfrm>
            <a:off x="720000" y="1801116"/>
            <a:ext cx="28383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13"/>
          </p:nvPr>
        </p:nvSpPr>
        <p:spPr>
          <a:xfrm>
            <a:off x="4214891" y="1801116"/>
            <a:ext cx="28383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14"/>
          </p:nvPr>
        </p:nvSpPr>
        <p:spPr>
          <a:xfrm>
            <a:off x="720000" y="3533776"/>
            <a:ext cx="28383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5"/>
          </p:nvPr>
        </p:nvSpPr>
        <p:spPr>
          <a:xfrm>
            <a:off x="4214891" y="3533776"/>
            <a:ext cx="28383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98" name="Google Shape;98;p13"/>
          <p:cNvGrpSpPr/>
          <p:nvPr/>
        </p:nvGrpSpPr>
        <p:grpSpPr>
          <a:xfrm>
            <a:off x="875350" y="127038"/>
            <a:ext cx="8033701" cy="4846535"/>
            <a:chOff x="875350" y="127038"/>
            <a:chExt cx="8033701" cy="4846535"/>
          </a:xfrm>
        </p:grpSpPr>
        <p:pic>
          <p:nvPicPr>
            <p:cNvPr id="99" name="Google Shape;99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262350" y="4591273"/>
              <a:ext cx="1646700" cy="382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875350" y="127038"/>
              <a:ext cx="797312" cy="185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1" name="Google Shape;101;p13"/>
          <p:cNvGrpSpPr/>
          <p:nvPr/>
        </p:nvGrpSpPr>
        <p:grpSpPr>
          <a:xfrm>
            <a:off x="-989124" y="-114101"/>
            <a:ext cx="9926867" cy="5390476"/>
            <a:chOff x="-989124" y="-114101"/>
            <a:chExt cx="9926867" cy="5390476"/>
          </a:xfrm>
        </p:grpSpPr>
        <p:pic>
          <p:nvPicPr>
            <p:cNvPr id="102" name="Google Shape;102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 flipH="1">
              <a:off x="7472389" y="3811021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989124" y="-114101"/>
              <a:ext cx="2123360" cy="6673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2960400" y="1482025"/>
            <a:ext cx="4256400" cy="15261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title" idx="2" hasCustomPrompt="1"/>
          </p:nvPr>
        </p:nvSpPr>
        <p:spPr>
          <a:xfrm>
            <a:off x="827527" y="1787125"/>
            <a:ext cx="1995000" cy="9159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5234950" y="3619525"/>
            <a:ext cx="2697600" cy="6021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3" name="Google Shape;113;p15"/>
          <p:cNvGrpSpPr/>
          <p:nvPr/>
        </p:nvGrpSpPr>
        <p:grpSpPr>
          <a:xfrm>
            <a:off x="0" y="0"/>
            <a:ext cx="9143999" cy="5143500"/>
            <a:chOff x="0" y="0"/>
            <a:chExt cx="9143999" cy="5143500"/>
          </a:xfrm>
        </p:grpSpPr>
        <p:pic>
          <p:nvPicPr>
            <p:cNvPr id="114" name="Google Shape;114;p15"/>
            <p:cNvPicPr preferRelativeResize="0"/>
            <p:nvPr/>
          </p:nvPicPr>
          <p:blipFill rotWithShape="1">
            <a:blip r:embed="rId2">
              <a:alphaModFix/>
            </a:blip>
            <a:srcRect l="50275" b="6716"/>
            <a:stretch/>
          </p:blipFill>
          <p:spPr>
            <a:xfrm>
              <a:off x="0" y="3173625"/>
              <a:ext cx="2087874" cy="1969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15"/>
            <p:cNvPicPr preferRelativeResize="0"/>
            <p:nvPr/>
          </p:nvPicPr>
          <p:blipFill rotWithShape="1">
            <a:blip r:embed="rId2">
              <a:alphaModFix/>
            </a:blip>
            <a:srcRect l="50275" b="6716"/>
            <a:stretch/>
          </p:blipFill>
          <p:spPr>
            <a:xfrm rot="10800000" flipH="1">
              <a:off x="0" y="0"/>
              <a:ext cx="2087874" cy="19698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6" name="Google Shape;116;p15"/>
            <p:cNvGrpSpPr/>
            <p:nvPr/>
          </p:nvGrpSpPr>
          <p:grpSpPr>
            <a:xfrm flipH="1">
              <a:off x="7056125" y="0"/>
              <a:ext cx="2087874" cy="5143500"/>
              <a:chOff x="4640575" y="0"/>
              <a:chExt cx="2087874" cy="5143500"/>
            </a:xfrm>
          </p:grpSpPr>
          <p:pic>
            <p:nvPicPr>
              <p:cNvPr id="117" name="Google Shape;117;p15"/>
              <p:cNvPicPr preferRelativeResize="0"/>
              <p:nvPr/>
            </p:nvPicPr>
            <p:blipFill rotWithShape="1">
              <a:blip r:embed="rId2">
                <a:alphaModFix/>
              </a:blip>
              <a:srcRect l="50275" b="6716"/>
              <a:stretch/>
            </p:blipFill>
            <p:spPr>
              <a:xfrm>
                <a:off x="4640575" y="3173625"/>
                <a:ext cx="2087874" cy="19698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8" name="Google Shape;118;p15"/>
              <p:cNvPicPr preferRelativeResize="0"/>
              <p:nvPr/>
            </p:nvPicPr>
            <p:blipFill rotWithShape="1">
              <a:blip r:embed="rId2">
                <a:alphaModFix/>
              </a:blip>
              <a:srcRect l="50275" b="6716"/>
              <a:stretch/>
            </p:blipFill>
            <p:spPr>
              <a:xfrm rot="10800000" flipH="1">
                <a:off x="4640575" y="0"/>
                <a:ext cx="2087874" cy="1969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19" name="Google Shape;119;p15"/>
          <p:cNvGrpSpPr/>
          <p:nvPr/>
        </p:nvGrpSpPr>
        <p:grpSpPr>
          <a:xfrm>
            <a:off x="3338114" y="76571"/>
            <a:ext cx="2467774" cy="4990358"/>
            <a:chOff x="3338114" y="76571"/>
            <a:chExt cx="2467774" cy="4990358"/>
          </a:xfrm>
        </p:grpSpPr>
        <p:pic>
          <p:nvPicPr>
            <p:cNvPr id="120" name="Google Shape;120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338114" y="76571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3338114" y="4603996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_1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25" name="Google Shape;225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7"/>
          <p:cNvSpPr txBox="1">
            <a:spLocks noGrp="1"/>
          </p:cNvSpPr>
          <p:nvPr>
            <p:ph type="subTitle" idx="1"/>
          </p:nvPr>
        </p:nvSpPr>
        <p:spPr>
          <a:xfrm>
            <a:off x="4845613" y="1731125"/>
            <a:ext cx="3424200" cy="21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7"/>
          <p:cNvSpPr txBox="1">
            <a:spLocks noGrp="1"/>
          </p:cNvSpPr>
          <p:nvPr>
            <p:ph type="subTitle" idx="2"/>
          </p:nvPr>
        </p:nvSpPr>
        <p:spPr>
          <a:xfrm>
            <a:off x="874188" y="1731125"/>
            <a:ext cx="3424200" cy="21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8" name="Google Shape;228;p27"/>
          <p:cNvGrpSpPr/>
          <p:nvPr/>
        </p:nvGrpSpPr>
        <p:grpSpPr>
          <a:xfrm>
            <a:off x="277425" y="4604002"/>
            <a:ext cx="3542749" cy="419800"/>
            <a:chOff x="277425" y="4604002"/>
            <a:chExt cx="3542749" cy="419800"/>
          </a:xfrm>
        </p:grpSpPr>
        <p:pic>
          <p:nvPicPr>
            <p:cNvPr id="229" name="Google Shape;229;p27"/>
            <p:cNvPicPr preferRelativeResize="0"/>
            <p:nvPr/>
          </p:nvPicPr>
          <p:blipFill rotWithShape="1">
            <a:blip r:embed="rId2">
              <a:alphaModFix/>
            </a:blip>
            <a:srcRect t="26723"/>
            <a:stretch/>
          </p:blipFill>
          <p:spPr>
            <a:xfrm>
              <a:off x="277425" y="4604002"/>
              <a:ext cx="2467749" cy="41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7"/>
            <p:cNvPicPr preferRelativeResize="0"/>
            <p:nvPr/>
          </p:nvPicPr>
          <p:blipFill rotWithShape="1">
            <a:blip r:embed="rId2">
              <a:alphaModFix/>
            </a:blip>
            <a:srcRect t="26723"/>
            <a:stretch/>
          </p:blipFill>
          <p:spPr>
            <a:xfrm>
              <a:off x="1352425" y="4604002"/>
              <a:ext cx="2467749" cy="419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1" name="Google Shape;231;p27"/>
          <p:cNvGrpSpPr/>
          <p:nvPr/>
        </p:nvGrpSpPr>
        <p:grpSpPr>
          <a:xfrm rot="10800000">
            <a:off x="568325" y="4633850"/>
            <a:ext cx="5797550" cy="230250"/>
            <a:chOff x="5873750" y="218475"/>
            <a:chExt cx="5797550" cy="230250"/>
          </a:xfrm>
        </p:grpSpPr>
        <p:cxnSp>
          <p:nvCxnSpPr>
            <p:cNvPr id="232" name="Google Shape;232;p27"/>
            <p:cNvCxnSpPr/>
            <p:nvPr/>
          </p:nvCxnSpPr>
          <p:spPr>
            <a:xfrm>
              <a:off x="5873750" y="290288"/>
              <a:ext cx="19812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sp>
          <p:nvSpPr>
            <p:cNvPr id="233" name="Google Shape;233;p27"/>
            <p:cNvSpPr/>
            <p:nvPr/>
          </p:nvSpPr>
          <p:spPr>
            <a:xfrm>
              <a:off x="6800850" y="218475"/>
              <a:ext cx="4870450" cy="230250"/>
            </a:xfrm>
            <a:custGeom>
              <a:avLst/>
              <a:gdLst/>
              <a:ahLst/>
              <a:cxnLst/>
              <a:rect l="l" t="t" r="r" b="b"/>
              <a:pathLst>
                <a:path w="194818" h="9210" extrusionOk="0">
                  <a:moveTo>
                    <a:pt x="194818" y="0"/>
                  </a:moveTo>
                  <a:lnTo>
                    <a:pt x="43688" y="233"/>
                  </a:lnTo>
                  <a:lnTo>
                    <a:pt x="38505" y="9210"/>
                  </a:lnTo>
                  <a:lnTo>
                    <a:pt x="10160" y="9210"/>
                  </a:lnTo>
                  <a:lnTo>
                    <a:pt x="0" y="921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solidFill>
          <a:schemeClr val="lt1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5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52" name="Google Shape;352;p35"/>
          <p:cNvGrpSpPr/>
          <p:nvPr/>
        </p:nvGrpSpPr>
        <p:grpSpPr>
          <a:xfrm>
            <a:off x="-113450" y="-1649725"/>
            <a:ext cx="9394610" cy="8421100"/>
            <a:chOff x="-113450" y="-1649725"/>
            <a:chExt cx="9394610" cy="8421100"/>
          </a:xfrm>
        </p:grpSpPr>
        <p:grpSp>
          <p:nvGrpSpPr>
            <p:cNvPr id="353" name="Google Shape;353;p35"/>
            <p:cNvGrpSpPr/>
            <p:nvPr/>
          </p:nvGrpSpPr>
          <p:grpSpPr>
            <a:xfrm>
              <a:off x="-113450" y="-1649725"/>
              <a:ext cx="8689100" cy="5214600"/>
              <a:chOff x="-113450" y="-1649725"/>
              <a:chExt cx="8689100" cy="5214600"/>
            </a:xfrm>
          </p:grpSpPr>
          <p:sp>
            <p:nvSpPr>
              <p:cNvPr id="354" name="Google Shape;354;p35"/>
              <p:cNvSpPr/>
              <p:nvPr/>
            </p:nvSpPr>
            <p:spPr>
              <a:xfrm>
                <a:off x="-113450" y="0"/>
                <a:ext cx="363625" cy="3564875"/>
              </a:xfrm>
              <a:custGeom>
                <a:avLst/>
                <a:gdLst/>
                <a:ahLst/>
                <a:cxnLst/>
                <a:rect l="l" t="t" r="r" b="b"/>
                <a:pathLst>
                  <a:path w="14545" h="142595" extrusionOk="0">
                    <a:moveTo>
                      <a:pt x="8343" y="-1516"/>
                    </a:moveTo>
                    <a:lnTo>
                      <a:pt x="11756" y="13274"/>
                    </a:lnTo>
                    <a:lnTo>
                      <a:pt x="18393" y="13274"/>
                    </a:lnTo>
                    <a:lnTo>
                      <a:pt x="18393" y="73384"/>
                    </a:lnTo>
                    <a:lnTo>
                      <a:pt x="22888" y="81170"/>
                    </a:lnTo>
                    <a:lnTo>
                      <a:pt x="22888" y="141079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55" name="Google Shape;355;p35"/>
              <p:cNvSpPr/>
              <p:nvPr/>
            </p:nvSpPr>
            <p:spPr>
              <a:xfrm>
                <a:off x="221725" y="-1649725"/>
                <a:ext cx="203525" cy="3086100"/>
              </a:xfrm>
              <a:custGeom>
                <a:avLst/>
                <a:gdLst/>
                <a:ahLst/>
                <a:cxnLst/>
                <a:rect l="l" t="t" r="r" b="b"/>
                <a:pathLst>
                  <a:path w="8141" h="123444" extrusionOk="0">
                    <a:moveTo>
                      <a:pt x="3010" y="0"/>
                    </a:moveTo>
                    <a:lnTo>
                      <a:pt x="3010" y="58214"/>
                    </a:lnTo>
                    <a:lnTo>
                      <a:pt x="0" y="63428"/>
                    </a:lnTo>
                    <a:lnTo>
                      <a:pt x="0" y="74522"/>
                    </a:lnTo>
                    <a:lnTo>
                      <a:pt x="8141" y="82664"/>
                    </a:lnTo>
                    <a:lnTo>
                      <a:pt x="8141" y="12344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56" name="Google Shape;356;p35"/>
              <p:cNvSpPr/>
              <p:nvPr/>
            </p:nvSpPr>
            <p:spPr>
              <a:xfrm>
                <a:off x="0" y="237025"/>
                <a:ext cx="8575650" cy="164450"/>
              </a:xfrm>
              <a:custGeom>
                <a:avLst/>
                <a:gdLst/>
                <a:ahLst/>
                <a:cxnLst/>
                <a:rect l="l" t="t" r="r" b="b"/>
                <a:pathLst>
                  <a:path w="343026" h="6578" extrusionOk="0">
                    <a:moveTo>
                      <a:pt x="0" y="0"/>
                    </a:moveTo>
                    <a:lnTo>
                      <a:pt x="59730" y="0"/>
                    </a:lnTo>
                    <a:lnTo>
                      <a:pt x="62166" y="4219"/>
                    </a:lnTo>
                    <a:lnTo>
                      <a:pt x="149801" y="4219"/>
                    </a:lnTo>
                    <a:lnTo>
                      <a:pt x="152197" y="70"/>
                    </a:lnTo>
                    <a:lnTo>
                      <a:pt x="161558" y="70"/>
                    </a:lnTo>
                    <a:lnTo>
                      <a:pt x="165315" y="6578"/>
                    </a:lnTo>
                    <a:lnTo>
                      <a:pt x="320651" y="6578"/>
                    </a:lnTo>
                    <a:lnTo>
                      <a:pt x="329039" y="1735"/>
                    </a:lnTo>
                    <a:lnTo>
                      <a:pt x="343026" y="173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</p:grpSp>
        <p:grpSp>
          <p:nvGrpSpPr>
            <p:cNvPr id="357" name="Google Shape;357;p35"/>
            <p:cNvGrpSpPr/>
            <p:nvPr/>
          </p:nvGrpSpPr>
          <p:grpSpPr>
            <a:xfrm rot="10800000">
              <a:off x="553960" y="1556775"/>
              <a:ext cx="8727200" cy="5214600"/>
              <a:chOff x="-113450" y="-1649725"/>
              <a:chExt cx="8727200" cy="5214600"/>
            </a:xfrm>
          </p:grpSpPr>
          <p:sp>
            <p:nvSpPr>
              <p:cNvPr id="358" name="Google Shape;358;p35"/>
              <p:cNvSpPr/>
              <p:nvPr/>
            </p:nvSpPr>
            <p:spPr>
              <a:xfrm>
                <a:off x="-113450" y="0"/>
                <a:ext cx="363625" cy="3564875"/>
              </a:xfrm>
              <a:custGeom>
                <a:avLst/>
                <a:gdLst/>
                <a:ahLst/>
                <a:cxnLst/>
                <a:rect l="l" t="t" r="r" b="b"/>
                <a:pathLst>
                  <a:path w="14545" h="142595" extrusionOk="0">
                    <a:moveTo>
                      <a:pt x="8343" y="-1516"/>
                    </a:moveTo>
                    <a:lnTo>
                      <a:pt x="11756" y="13274"/>
                    </a:lnTo>
                    <a:lnTo>
                      <a:pt x="18393" y="13274"/>
                    </a:lnTo>
                    <a:lnTo>
                      <a:pt x="18393" y="73384"/>
                    </a:lnTo>
                    <a:lnTo>
                      <a:pt x="22888" y="81170"/>
                    </a:lnTo>
                    <a:lnTo>
                      <a:pt x="22888" y="141079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59" name="Google Shape;359;p35"/>
              <p:cNvSpPr/>
              <p:nvPr/>
            </p:nvSpPr>
            <p:spPr>
              <a:xfrm>
                <a:off x="221725" y="-1649725"/>
                <a:ext cx="203525" cy="3086100"/>
              </a:xfrm>
              <a:custGeom>
                <a:avLst/>
                <a:gdLst/>
                <a:ahLst/>
                <a:cxnLst/>
                <a:rect l="l" t="t" r="r" b="b"/>
                <a:pathLst>
                  <a:path w="8141" h="123444" extrusionOk="0">
                    <a:moveTo>
                      <a:pt x="3010" y="0"/>
                    </a:moveTo>
                    <a:lnTo>
                      <a:pt x="3010" y="58214"/>
                    </a:lnTo>
                    <a:lnTo>
                      <a:pt x="0" y="63428"/>
                    </a:lnTo>
                    <a:lnTo>
                      <a:pt x="0" y="74522"/>
                    </a:lnTo>
                    <a:lnTo>
                      <a:pt x="8141" y="82664"/>
                    </a:lnTo>
                    <a:lnTo>
                      <a:pt x="8141" y="12344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60" name="Google Shape;360;p35"/>
              <p:cNvSpPr/>
              <p:nvPr/>
            </p:nvSpPr>
            <p:spPr>
              <a:xfrm>
                <a:off x="38100" y="237025"/>
                <a:ext cx="8575650" cy="164450"/>
              </a:xfrm>
              <a:custGeom>
                <a:avLst/>
                <a:gdLst/>
                <a:ahLst/>
                <a:cxnLst/>
                <a:rect l="l" t="t" r="r" b="b"/>
                <a:pathLst>
                  <a:path w="343026" h="6578" extrusionOk="0">
                    <a:moveTo>
                      <a:pt x="0" y="0"/>
                    </a:moveTo>
                    <a:lnTo>
                      <a:pt x="59730" y="0"/>
                    </a:lnTo>
                    <a:lnTo>
                      <a:pt x="62166" y="4219"/>
                    </a:lnTo>
                    <a:lnTo>
                      <a:pt x="149801" y="4219"/>
                    </a:lnTo>
                    <a:lnTo>
                      <a:pt x="152197" y="70"/>
                    </a:lnTo>
                    <a:lnTo>
                      <a:pt x="161558" y="70"/>
                    </a:lnTo>
                    <a:lnTo>
                      <a:pt x="165315" y="6578"/>
                    </a:lnTo>
                    <a:lnTo>
                      <a:pt x="320651" y="6578"/>
                    </a:lnTo>
                    <a:lnTo>
                      <a:pt x="329039" y="1735"/>
                    </a:lnTo>
                    <a:lnTo>
                      <a:pt x="343026" y="173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36"/>
          <p:cNvGrpSpPr/>
          <p:nvPr/>
        </p:nvGrpSpPr>
        <p:grpSpPr>
          <a:xfrm>
            <a:off x="-93668" y="0"/>
            <a:ext cx="9329109" cy="5143497"/>
            <a:chOff x="-93668" y="0"/>
            <a:chExt cx="9329109" cy="5143497"/>
          </a:xfrm>
        </p:grpSpPr>
        <p:grpSp>
          <p:nvGrpSpPr>
            <p:cNvPr id="363" name="Google Shape;363;p36"/>
            <p:cNvGrpSpPr/>
            <p:nvPr/>
          </p:nvGrpSpPr>
          <p:grpSpPr>
            <a:xfrm rot="10800000">
              <a:off x="5592122" y="2697400"/>
              <a:ext cx="3643319" cy="2446097"/>
              <a:chOff x="-93668" y="0"/>
              <a:chExt cx="3643319" cy="2446097"/>
            </a:xfrm>
          </p:grpSpPr>
          <p:grpSp>
            <p:nvGrpSpPr>
              <p:cNvPr id="364" name="Google Shape;364;p36"/>
              <p:cNvGrpSpPr/>
              <p:nvPr/>
            </p:nvGrpSpPr>
            <p:grpSpPr>
              <a:xfrm rot="5400000">
                <a:off x="-1020033" y="926370"/>
                <a:ext cx="2446091" cy="593362"/>
                <a:chOff x="162825" y="4587541"/>
                <a:chExt cx="1763711" cy="427833"/>
              </a:xfrm>
            </p:grpSpPr>
            <p:pic>
              <p:nvPicPr>
                <p:cNvPr id="365" name="Google Shape;365;p36"/>
                <p:cNvPicPr preferRelativeResize="0"/>
                <p:nvPr/>
              </p:nvPicPr>
              <p:blipFill>
                <a:blip r:embed="rId2">
                  <a:alphaModFix amt="46000"/>
                </a:blip>
                <a:stretch>
                  <a:fillRect/>
                </a:stretch>
              </p:blipFill>
              <p:spPr>
                <a:xfrm>
                  <a:off x="162825" y="4648923"/>
                  <a:ext cx="1578400" cy="366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66" name="Google Shape;366;p36"/>
                <p:cNvPicPr preferRelativeResize="0"/>
                <p:nvPr/>
              </p:nvPicPr>
              <p:blipFill>
                <a:blip r:embed="rId2">
                  <a:alphaModFix/>
                </a:blip>
                <a:stretch>
                  <a:fillRect/>
                </a:stretch>
              </p:blipFill>
              <p:spPr>
                <a:xfrm>
                  <a:off x="819963" y="4758475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67" name="Google Shape;367;p36"/>
                <p:cNvPicPr preferRelativeResize="0"/>
                <p:nvPr/>
              </p:nvPicPr>
              <p:blipFill>
                <a:blip r:embed="rId2">
                  <a:alphaModFix amt="88000"/>
                </a:blip>
                <a:stretch>
                  <a:fillRect/>
                </a:stretch>
              </p:blipFill>
              <p:spPr>
                <a:xfrm>
                  <a:off x="440163" y="4587541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68" name="Google Shape;368;p36"/>
              <p:cNvGrpSpPr/>
              <p:nvPr/>
            </p:nvGrpSpPr>
            <p:grpSpPr>
              <a:xfrm rot="10800000">
                <a:off x="0" y="0"/>
                <a:ext cx="3549651" cy="387101"/>
                <a:chOff x="3124200" y="4610350"/>
                <a:chExt cx="3549651" cy="387101"/>
              </a:xfrm>
            </p:grpSpPr>
            <p:pic>
              <p:nvPicPr>
                <p:cNvPr id="369" name="Google Shape;369;p3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t="58031" b="6290"/>
                <a:stretch/>
              </p:blipFill>
              <p:spPr>
                <a:xfrm>
                  <a:off x="4245892" y="4610350"/>
                  <a:ext cx="2427959" cy="3871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0" name="Google Shape;370;p3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l="23295" t="76293"/>
                <a:stretch/>
              </p:blipFill>
              <p:spPr>
                <a:xfrm rot="10800000">
                  <a:off x="3124200" y="4639375"/>
                  <a:ext cx="1505849" cy="3290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71" name="Google Shape;371;p36"/>
            <p:cNvGrpSpPr/>
            <p:nvPr/>
          </p:nvGrpSpPr>
          <p:grpSpPr>
            <a:xfrm>
              <a:off x="-93668" y="0"/>
              <a:ext cx="3643319" cy="2446097"/>
              <a:chOff x="-93668" y="0"/>
              <a:chExt cx="3643319" cy="2446097"/>
            </a:xfrm>
          </p:grpSpPr>
          <p:grpSp>
            <p:nvGrpSpPr>
              <p:cNvPr id="372" name="Google Shape;372;p36"/>
              <p:cNvGrpSpPr/>
              <p:nvPr/>
            </p:nvGrpSpPr>
            <p:grpSpPr>
              <a:xfrm rot="5400000">
                <a:off x="-1020033" y="926370"/>
                <a:ext cx="2446091" cy="593362"/>
                <a:chOff x="162825" y="4587541"/>
                <a:chExt cx="1763711" cy="427833"/>
              </a:xfrm>
            </p:grpSpPr>
            <p:pic>
              <p:nvPicPr>
                <p:cNvPr id="373" name="Google Shape;373;p36"/>
                <p:cNvPicPr preferRelativeResize="0"/>
                <p:nvPr/>
              </p:nvPicPr>
              <p:blipFill>
                <a:blip r:embed="rId2">
                  <a:alphaModFix amt="46000"/>
                </a:blip>
                <a:stretch>
                  <a:fillRect/>
                </a:stretch>
              </p:blipFill>
              <p:spPr>
                <a:xfrm>
                  <a:off x="162825" y="4648923"/>
                  <a:ext cx="1578400" cy="366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4" name="Google Shape;374;p36"/>
                <p:cNvPicPr preferRelativeResize="0"/>
                <p:nvPr/>
              </p:nvPicPr>
              <p:blipFill>
                <a:blip r:embed="rId2">
                  <a:alphaModFix/>
                </a:blip>
                <a:stretch>
                  <a:fillRect/>
                </a:stretch>
              </p:blipFill>
              <p:spPr>
                <a:xfrm>
                  <a:off x="819963" y="4758475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5" name="Google Shape;375;p36"/>
                <p:cNvPicPr preferRelativeResize="0"/>
                <p:nvPr/>
              </p:nvPicPr>
              <p:blipFill>
                <a:blip r:embed="rId2">
                  <a:alphaModFix amt="88000"/>
                </a:blip>
                <a:stretch>
                  <a:fillRect/>
                </a:stretch>
              </p:blipFill>
              <p:spPr>
                <a:xfrm>
                  <a:off x="440163" y="4587541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76" name="Google Shape;376;p36"/>
              <p:cNvGrpSpPr/>
              <p:nvPr/>
            </p:nvGrpSpPr>
            <p:grpSpPr>
              <a:xfrm rot="10800000">
                <a:off x="0" y="0"/>
                <a:ext cx="3549651" cy="387101"/>
                <a:chOff x="3124200" y="4610350"/>
                <a:chExt cx="3549651" cy="387101"/>
              </a:xfrm>
            </p:grpSpPr>
            <p:pic>
              <p:nvPicPr>
                <p:cNvPr id="377" name="Google Shape;377;p3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t="58031" b="6290"/>
                <a:stretch/>
              </p:blipFill>
              <p:spPr>
                <a:xfrm>
                  <a:off x="4245892" y="4610350"/>
                  <a:ext cx="2427959" cy="3871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8" name="Google Shape;378;p3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l="23295" t="76293"/>
                <a:stretch/>
              </p:blipFill>
              <p:spPr>
                <a:xfrm rot="10800000">
                  <a:off x="3124200" y="4639375"/>
                  <a:ext cx="1505849" cy="3290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sp>
        <p:nvSpPr>
          <p:cNvPr id="379" name="Google Shape;379;p36"/>
          <p:cNvSpPr/>
          <p:nvPr/>
        </p:nvSpPr>
        <p:spPr>
          <a:xfrm>
            <a:off x="175255" y="182850"/>
            <a:ext cx="8793600" cy="4777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4" r:id="rId4"/>
    <p:sldLayoutId id="2147483658" r:id="rId5"/>
    <p:sldLayoutId id="2147483659" r:id="rId6"/>
    <p:sldLayoutId id="2147483661" r:id="rId7"/>
    <p:sldLayoutId id="2147483673" r:id="rId8"/>
    <p:sldLayoutId id="2147483681" r:id="rId9"/>
    <p:sldLayoutId id="2147483682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40"/>
          <p:cNvPicPr preferRelativeResize="0"/>
          <p:nvPr/>
        </p:nvPicPr>
        <p:blipFill rotWithShape="1">
          <a:blip r:embed="rId3">
            <a:alphaModFix/>
          </a:blip>
          <a:srcRect l="2123" b="9502"/>
          <a:stretch/>
        </p:blipFill>
        <p:spPr>
          <a:xfrm>
            <a:off x="0" y="3692921"/>
            <a:ext cx="4304653" cy="145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0"/>
          <p:cNvPicPr preferRelativeResize="0"/>
          <p:nvPr/>
        </p:nvPicPr>
        <p:blipFill rotWithShape="1">
          <a:blip r:embed="rId4">
            <a:alphaModFix/>
          </a:blip>
          <a:srcRect t="19097" r="5042" b="2954"/>
          <a:stretch/>
        </p:blipFill>
        <p:spPr>
          <a:xfrm>
            <a:off x="2396525" y="3055175"/>
            <a:ext cx="3716124" cy="9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7519424" y="3535074"/>
            <a:ext cx="456876" cy="2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0"/>
          <p:cNvSpPr txBox="1">
            <a:spLocks noGrp="1"/>
          </p:cNvSpPr>
          <p:nvPr>
            <p:ph type="ctrTitle"/>
          </p:nvPr>
        </p:nvSpPr>
        <p:spPr>
          <a:xfrm>
            <a:off x="1234950" y="1398100"/>
            <a:ext cx="6486900" cy="15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Virtual Robot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solidFill>
                  <a:schemeClr val="accent2"/>
                </a:solidFill>
              </a:rPr>
              <a:t>simulation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394" name="Google Shape;394;p40"/>
          <p:cNvSpPr txBox="1">
            <a:spLocks noGrp="1"/>
          </p:cNvSpPr>
          <p:nvPr>
            <p:ph type="subTitle" idx="1"/>
          </p:nvPr>
        </p:nvSpPr>
        <p:spPr>
          <a:xfrm>
            <a:off x="4572000" y="3461550"/>
            <a:ext cx="2947500" cy="3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Farah Alwadya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latin typeface="+mj-lt"/>
              </a:rPr>
              <a:t>contents</a:t>
            </a:r>
            <a:endParaRPr dirty="0">
              <a:latin typeface="+mj-lt"/>
            </a:endParaRPr>
          </a:p>
        </p:txBody>
      </p:sp>
      <p:sp>
        <p:nvSpPr>
          <p:cNvPr id="409" name="Google Shape;409;p42"/>
          <p:cNvSpPr txBox="1">
            <a:spLocks noGrp="1"/>
          </p:cNvSpPr>
          <p:nvPr>
            <p:ph type="subTitle" idx="13"/>
          </p:nvPr>
        </p:nvSpPr>
        <p:spPr>
          <a:xfrm>
            <a:off x="4214890" y="1801116"/>
            <a:ext cx="3392917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>
                <a:latin typeface="+mj-lt"/>
              </a:rPr>
              <a:t>System &amp; Robot Design</a:t>
            </a:r>
          </a:p>
        </p:txBody>
      </p:sp>
      <p:sp>
        <p:nvSpPr>
          <p:cNvPr id="415" name="Google Shape;415;p42"/>
          <p:cNvSpPr txBox="1">
            <a:spLocks noGrp="1"/>
          </p:cNvSpPr>
          <p:nvPr>
            <p:ph type="title" idx="5"/>
          </p:nvPr>
        </p:nvSpPr>
        <p:spPr>
          <a:xfrm>
            <a:off x="821600" y="1332025"/>
            <a:ext cx="9048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01</a:t>
            </a:r>
            <a:endParaRPr/>
          </a:p>
        </p:txBody>
      </p:sp>
      <p:sp>
        <p:nvSpPr>
          <p:cNvPr id="416" name="Google Shape;416;p42"/>
          <p:cNvSpPr txBox="1">
            <a:spLocks noGrp="1"/>
          </p:cNvSpPr>
          <p:nvPr>
            <p:ph type="title" idx="6"/>
          </p:nvPr>
        </p:nvSpPr>
        <p:spPr>
          <a:xfrm>
            <a:off x="821600" y="3064618"/>
            <a:ext cx="9048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03</a:t>
            </a:r>
            <a:endParaRPr/>
          </a:p>
        </p:txBody>
      </p:sp>
      <p:sp>
        <p:nvSpPr>
          <p:cNvPr id="417" name="Google Shape;417;p42"/>
          <p:cNvSpPr txBox="1">
            <a:spLocks noGrp="1"/>
          </p:cNvSpPr>
          <p:nvPr>
            <p:ph type="title" idx="7"/>
          </p:nvPr>
        </p:nvSpPr>
        <p:spPr>
          <a:xfrm>
            <a:off x="4316491" y="1332025"/>
            <a:ext cx="9048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02</a:t>
            </a:r>
            <a:endParaRPr/>
          </a:p>
        </p:txBody>
      </p:sp>
      <p:sp>
        <p:nvSpPr>
          <p:cNvPr id="418" name="Google Shape;418;p42"/>
          <p:cNvSpPr txBox="1">
            <a:spLocks noGrp="1"/>
          </p:cNvSpPr>
          <p:nvPr>
            <p:ph type="title" idx="8"/>
          </p:nvPr>
        </p:nvSpPr>
        <p:spPr>
          <a:xfrm>
            <a:off x="4316491" y="3064618"/>
            <a:ext cx="9048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04</a:t>
            </a:r>
            <a:endParaRPr/>
          </a:p>
        </p:txBody>
      </p:sp>
      <p:sp>
        <p:nvSpPr>
          <p:cNvPr id="419" name="Google Shape;419;p42"/>
          <p:cNvSpPr txBox="1">
            <a:spLocks noGrp="1"/>
          </p:cNvSpPr>
          <p:nvPr>
            <p:ph type="subTitle" idx="14"/>
          </p:nvPr>
        </p:nvSpPr>
        <p:spPr>
          <a:xfrm>
            <a:off x="720000" y="3533776"/>
            <a:ext cx="3132672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>
                <a:latin typeface="+mj-lt"/>
              </a:rPr>
              <a:t>Algorithms &amp; Simulation</a:t>
            </a:r>
          </a:p>
        </p:txBody>
      </p:sp>
      <p:sp>
        <p:nvSpPr>
          <p:cNvPr id="420" name="Google Shape;420;p42"/>
          <p:cNvSpPr txBox="1">
            <a:spLocks noGrp="1"/>
          </p:cNvSpPr>
          <p:nvPr>
            <p:ph type="subTitle" idx="15"/>
          </p:nvPr>
        </p:nvSpPr>
        <p:spPr>
          <a:xfrm>
            <a:off x="4214891" y="3533776"/>
            <a:ext cx="28383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>
                <a:latin typeface="+mj-lt"/>
              </a:rPr>
              <a:t>Demo &amp; 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58482C-A7AF-32D2-9FB0-B21D07011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600" y="1848546"/>
            <a:ext cx="303892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Introduction &amp; Problem Statement</a:t>
            </a:r>
            <a:endParaRPr 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4"/>
          <p:cNvSpPr txBox="1">
            <a:spLocks noGrp="1"/>
          </p:cNvSpPr>
          <p:nvPr>
            <p:ph type="title"/>
          </p:nvPr>
        </p:nvSpPr>
        <p:spPr>
          <a:xfrm>
            <a:off x="1141877" y="1250789"/>
            <a:ext cx="7867113" cy="10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3600" dirty="0">
                <a:latin typeface="Franklin Gothic Demi" panose="020B0703020102020204" pitchFamily="34" charset="0"/>
                <a:cs typeface="+mj-cs"/>
              </a:rPr>
              <a:t>Description and problem statment</a:t>
            </a:r>
            <a:endParaRPr sz="3600" dirty="0">
              <a:latin typeface="Franklin Gothic Demi" panose="020B0703020102020204" pitchFamily="34" charset="0"/>
              <a:cs typeface="+mj-cs"/>
            </a:endParaRPr>
          </a:p>
        </p:txBody>
      </p:sp>
      <p:sp>
        <p:nvSpPr>
          <p:cNvPr id="440" name="Google Shape;440;p44"/>
          <p:cNvSpPr txBox="1">
            <a:spLocks noGrp="1"/>
          </p:cNvSpPr>
          <p:nvPr>
            <p:ph type="title" idx="2"/>
          </p:nvPr>
        </p:nvSpPr>
        <p:spPr>
          <a:xfrm>
            <a:off x="2577000" y="361862"/>
            <a:ext cx="1995000" cy="915900"/>
          </a:xfrm>
          <a:prstGeom prst="rect">
            <a:avLst/>
          </a:prstGeom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01</a:t>
            </a:r>
            <a:endParaRPr/>
          </a:p>
        </p:txBody>
      </p:sp>
      <p:pic>
        <p:nvPicPr>
          <p:cNvPr id="442" name="Google Shape;442;p44"/>
          <p:cNvPicPr preferRelativeResize="0"/>
          <p:nvPr/>
        </p:nvPicPr>
        <p:blipFill rotWithShape="1">
          <a:blip r:embed="rId3">
            <a:alphaModFix/>
          </a:blip>
          <a:srcRect t="19097" r="5042" b="2954"/>
          <a:stretch/>
        </p:blipFill>
        <p:spPr>
          <a:xfrm flipH="1">
            <a:off x="4753439" y="748176"/>
            <a:ext cx="3716124" cy="9588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3" name="Google Shape;443;p44"/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444" name="Google Shape;444;p44"/>
            <p:cNvPicPr preferRelativeResize="0"/>
            <p:nvPr/>
          </p:nvPicPr>
          <p:blipFill rotWithShape="1">
            <a:blip r:embed="rId4">
              <a:alphaModFix/>
            </a:blip>
            <a:srcRect t="1400" r="83035" b="-1399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5" name="Google Shape;445;p44"/>
            <p:cNvPicPr preferRelativeResize="0"/>
            <p:nvPr/>
          </p:nvPicPr>
          <p:blipFill rotWithShape="1">
            <a:blip r:embed="rId4">
              <a:alphaModFix/>
            </a:blip>
            <a:srcRect t="1400" r="83035" b="-1399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Rectangle 2">
            <a:extLst>
              <a:ext uri="{FF2B5EF4-FFF2-40B4-BE49-F238E27FC236}">
                <a16:creationId xmlns:a16="http://schemas.microsoft.com/office/drawing/2014/main" id="{788C1EF1-563F-184D-3823-7F291595E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606" y="2201946"/>
            <a:ext cx="4155310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navigate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safely</a:t>
            </a: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obstacles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walls</a:t>
            </a: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external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</a:t>
            </a: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67"/>
          <p:cNvSpPr txBox="1">
            <a:spLocks noGrp="1"/>
          </p:cNvSpPr>
          <p:nvPr>
            <p:ph type="title"/>
          </p:nvPr>
        </p:nvSpPr>
        <p:spPr>
          <a:xfrm>
            <a:off x="1129553" y="1523975"/>
            <a:ext cx="7336716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>
                <a:latin typeface="Franklin Gothic Demi" panose="020B0703020102020204" pitchFamily="34" charset="0"/>
              </a:rPr>
              <a:t>System &amp; Robot Design</a:t>
            </a:r>
            <a:endParaRPr dirty="0">
              <a:latin typeface="Franklin Gothic Demi" panose="020B0703020102020204" pitchFamily="34" charset="0"/>
            </a:endParaRPr>
          </a:p>
        </p:txBody>
      </p:sp>
      <p:sp>
        <p:nvSpPr>
          <p:cNvPr id="812" name="Google Shape;812;p67"/>
          <p:cNvSpPr txBox="1">
            <a:spLocks noGrp="1"/>
          </p:cNvSpPr>
          <p:nvPr>
            <p:ph type="title" idx="2"/>
          </p:nvPr>
        </p:nvSpPr>
        <p:spPr>
          <a:xfrm>
            <a:off x="913588" y="1066025"/>
            <a:ext cx="1995000" cy="915900"/>
          </a:xfrm>
          <a:prstGeom prst="rect">
            <a:avLst/>
          </a:prstGeom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02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"/>
          <p:cNvSpPr txBox="1">
            <a:spLocks noGrp="1"/>
          </p:cNvSpPr>
          <p:nvPr>
            <p:ph type="title"/>
          </p:nvPr>
        </p:nvSpPr>
        <p:spPr>
          <a:xfrm>
            <a:off x="2173044" y="27452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600" dirty="0">
                <a:latin typeface="Franklin Gothic Demi" panose="020B0703020102020204" pitchFamily="34" charset="0"/>
              </a:rPr>
              <a:t>System Architecture</a:t>
            </a:r>
            <a:endParaRPr sz="3600" dirty="0">
              <a:latin typeface="Franklin Gothic Demi" panose="020B0703020102020204" pitchFamily="34" charset="0"/>
            </a:endParaRP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2BD5193D-FA1B-5A38-0252-05AE549AD6D0}"/>
              </a:ext>
            </a:extLst>
          </p:cNvPr>
          <p:cNvSpPr txBox="1"/>
          <p:nvPr/>
        </p:nvSpPr>
        <p:spPr>
          <a:xfrm>
            <a:off x="1054250" y="1059237"/>
            <a:ext cx="2677336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000" dirty="0">
                <a:solidFill>
                  <a:srgbClr val="3C3C45"/>
                </a:solidFill>
                <a:latin typeface="Franklin Gothic Demi" panose="020B0703020102020204" pitchFamily="34" charset="0"/>
              </a:rPr>
              <a:t>Components Overview</a:t>
            </a:r>
            <a:endParaRPr lang="ar-SA" sz="2000" dirty="0">
              <a:solidFill>
                <a:srgbClr val="3C3C45"/>
              </a:solidFill>
              <a:latin typeface="Franklin Gothic Demi" panose="020B0703020102020204" pitchFamily="34" charset="0"/>
            </a:endParaRPr>
          </a:p>
        </p:txBody>
      </p:sp>
      <p:grpSp>
        <p:nvGrpSpPr>
          <p:cNvPr id="18" name="مجموعة 17">
            <a:extLst>
              <a:ext uri="{FF2B5EF4-FFF2-40B4-BE49-F238E27FC236}">
                <a16:creationId xmlns:a16="http://schemas.microsoft.com/office/drawing/2014/main" id="{CB4B9B18-3937-0B33-61C5-3B71A9A2F6BB}"/>
              </a:ext>
            </a:extLst>
          </p:cNvPr>
          <p:cNvGrpSpPr/>
          <p:nvPr/>
        </p:nvGrpSpPr>
        <p:grpSpPr>
          <a:xfrm>
            <a:off x="551844" y="1588369"/>
            <a:ext cx="8040311" cy="572700"/>
            <a:chOff x="440301" y="1619977"/>
            <a:chExt cx="8040311" cy="572700"/>
          </a:xfrm>
        </p:grpSpPr>
        <p:sp>
          <p:nvSpPr>
            <p:cNvPr id="5" name="مستطيل 4">
              <a:extLst>
                <a:ext uri="{FF2B5EF4-FFF2-40B4-BE49-F238E27FC236}">
                  <a16:creationId xmlns:a16="http://schemas.microsoft.com/office/drawing/2014/main" id="{56BE6D27-3315-B30C-AD44-BEE2BA3593D3}"/>
                </a:ext>
              </a:extLst>
            </p:cNvPr>
            <p:cNvSpPr/>
            <p:nvPr/>
          </p:nvSpPr>
          <p:spPr>
            <a:xfrm>
              <a:off x="440301" y="1619977"/>
              <a:ext cx="1732743" cy="572700"/>
            </a:xfrm>
            <a:prstGeom prst="rect">
              <a:avLst/>
            </a:prstGeom>
            <a:solidFill>
              <a:srgbClr val="130994">
                <a:alpha val="10196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2000" dirty="0">
                  <a:solidFill>
                    <a:schemeClr val="bg1">
                      <a:lumMod val="10000"/>
                    </a:schemeClr>
                  </a:solidFill>
                  <a:latin typeface="Franklin Gothic Medium" panose="020B0603020102020204" pitchFamily="34" charset="0"/>
                </a:rPr>
                <a:t>Environment</a:t>
              </a:r>
              <a:r>
                <a:rPr lang="en-US" sz="2000" b="1" dirty="0">
                  <a:latin typeface="Franklin Gothic Medium" panose="020B0603020102020204" pitchFamily="34" charset="0"/>
                </a:rPr>
                <a:t> </a:t>
              </a:r>
              <a:endParaRPr lang="ar-SA" sz="2000" b="1" dirty="0">
                <a:latin typeface="Franklin Gothic Medium" panose="020B0603020102020204" pitchFamily="34" charset="0"/>
              </a:endParaRPr>
            </a:p>
          </p:txBody>
        </p:sp>
        <p:sp>
          <p:nvSpPr>
            <p:cNvPr id="6" name="مستطيل 5">
              <a:extLst>
                <a:ext uri="{FF2B5EF4-FFF2-40B4-BE49-F238E27FC236}">
                  <a16:creationId xmlns:a16="http://schemas.microsoft.com/office/drawing/2014/main" id="{7FF76941-BA87-348D-DA92-378B1AA12EBB}"/>
                </a:ext>
              </a:extLst>
            </p:cNvPr>
            <p:cNvSpPr/>
            <p:nvPr/>
          </p:nvSpPr>
          <p:spPr>
            <a:xfrm>
              <a:off x="2668927" y="1619977"/>
              <a:ext cx="1354433" cy="572700"/>
            </a:xfrm>
            <a:prstGeom prst="rect">
              <a:avLst/>
            </a:prstGeom>
            <a:solidFill>
              <a:srgbClr val="130994">
                <a:alpha val="10196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2000" dirty="0">
                  <a:solidFill>
                    <a:schemeClr val="bg1">
                      <a:lumMod val="10000"/>
                    </a:schemeClr>
                  </a:solidFill>
                  <a:latin typeface="Franklin Gothic Medium" panose="020B0603020102020204" pitchFamily="34" charset="0"/>
                </a:rPr>
                <a:t>Robot</a:t>
              </a:r>
              <a:r>
                <a:rPr lang="en-US" sz="2000" dirty="0"/>
                <a:t> </a:t>
              </a:r>
              <a:r>
                <a:rPr lang="en-US" sz="2000" b="1" dirty="0">
                  <a:latin typeface="Franklin Gothic Medium" panose="020B0603020102020204" pitchFamily="34" charset="0"/>
                </a:rPr>
                <a:t> </a:t>
              </a:r>
              <a:endParaRPr lang="ar-SA" sz="2000" b="1" dirty="0">
                <a:latin typeface="Franklin Gothic Medium" panose="020B0603020102020204" pitchFamily="34" charset="0"/>
              </a:endParaRPr>
            </a:p>
          </p:txBody>
        </p:sp>
        <p:sp>
          <p:nvSpPr>
            <p:cNvPr id="7" name="مستطيل 6">
              <a:extLst>
                <a:ext uri="{FF2B5EF4-FFF2-40B4-BE49-F238E27FC236}">
                  <a16:creationId xmlns:a16="http://schemas.microsoft.com/office/drawing/2014/main" id="{D859F1F5-316A-93F3-9D40-C94DD58C212D}"/>
                </a:ext>
              </a:extLst>
            </p:cNvPr>
            <p:cNvSpPr/>
            <p:nvPr/>
          </p:nvSpPr>
          <p:spPr>
            <a:xfrm>
              <a:off x="4519243" y="1619977"/>
              <a:ext cx="1732743" cy="572700"/>
            </a:xfrm>
            <a:prstGeom prst="rect">
              <a:avLst/>
            </a:prstGeom>
            <a:solidFill>
              <a:srgbClr val="130994">
                <a:alpha val="10196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2000" dirty="0">
                  <a:solidFill>
                    <a:schemeClr val="bg1">
                      <a:lumMod val="10000"/>
                    </a:schemeClr>
                  </a:solidFill>
                  <a:latin typeface="Franklin Gothic Medium" panose="020B0603020102020204" pitchFamily="34" charset="0"/>
                </a:rPr>
                <a:t>Simulation  </a:t>
              </a:r>
              <a:r>
                <a:rPr lang="en-US" sz="2000" b="1" dirty="0">
                  <a:solidFill>
                    <a:schemeClr val="bg1">
                      <a:lumMod val="10000"/>
                    </a:schemeClr>
                  </a:solidFill>
                  <a:latin typeface="Franklin Gothic Medium" panose="020B0603020102020204" pitchFamily="34" charset="0"/>
                </a:rPr>
                <a:t> </a:t>
              </a:r>
              <a:endParaRPr lang="ar-SA" sz="2000" b="1" dirty="0">
                <a:solidFill>
                  <a:schemeClr val="bg1">
                    <a:lumMod val="10000"/>
                  </a:schemeClr>
                </a:solidFill>
                <a:latin typeface="Franklin Gothic Medium" panose="020B0603020102020204" pitchFamily="34" charset="0"/>
              </a:endParaRPr>
            </a:p>
          </p:txBody>
        </p:sp>
        <p:sp>
          <p:nvSpPr>
            <p:cNvPr id="8" name="مستطيل 7">
              <a:extLst>
                <a:ext uri="{FF2B5EF4-FFF2-40B4-BE49-F238E27FC236}">
                  <a16:creationId xmlns:a16="http://schemas.microsoft.com/office/drawing/2014/main" id="{57CD1BD3-0F65-A6E9-F9F4-0209A31E1B85}"/>
                </a:ext>
              </a:extLst>
            </p:cNvPr>
            <p:cNvSpPr/>
            <p:nvPr/>
          </p:nvSpPr>
          <p:spPr>
            <a:xfrm>
              <a:off x="6747869" y="1619977"/>
              <a:ext cx="1732743" cy="572700"/>
            </a:xfrm>
            <a:prstGeom prst="rect">
              <a:avLst/>
            </a:prstGeom>
            <a:solidFill>
              <a:srgbClr val="130994">
                <a:alpha val="10196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2000" dirty="0">
                  <a:solidFill>
                    <a:schemeClr val="bg1">
                      <a:lumMod val="10000"/>
                    </a:schemeClr>
                  </a:solidFill>
                  <a:latin typeface="Franklin Gothic Medium" panose="020B0603020102020204" pitchFamily="34" charset="0"/>
                </a:rPr>
                <a:t>Visualizer  </a:t>
              </a:r>
              <a:r>
                <a:rPr lang="en-US" sz="2000" b="1" dirty="0">
                  <a:solidFill>
                    <a:schemeClr val="bg1">
                      <a:lumMod val="10000"/>
                    </a:schemeClr>
                  </a:solidFill>
                  <a:latin typeface="Franklin Gothic Medium" panose="020B0603020102020204" pitchFamily="34" charset="0"/>
                </a:rPr>
                <a:t> </a:t>
              </a:r>
              <a:endParaRPr lang="ar-SA" sz="2000" b="1" dirty="0">
                <a:solidFill>
                  <a:schemeClr val="bg1">
                    <a:lumMod val="10000"/>
                  </a:schemeClr>
                </a:solidFill>
                <a:latin typeface="Franklin Gothic Medium" panose="020B0603020102020204" pitchFamily="34" charset="0"/>
              </a:endParaRPr>
            </a:p>
          </p:txBody>
        </p:sp>
        <p:cxnSp>
          <p:nvCxnSpPr>
            <p:cNvPr id="10" name="رابط كسهم مستقيم 9">
              <a:extLst>
                <a:ext uri="{FF2B5EF4-FFF2-40B4-BE49-F238E27FC236}">
                  <a16:creationId xmlns:a16="http://schemas.microsoft.com/office/drawing/2014/main" id="{04DB32EA-1CF1-A762-E222-32E3E5E18DF6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2173044" y="1906327"/>
              <a:ext cx="3872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رابط كسهم مستقيم 12">
              <a:extLst>
                <a:ext uri="{FF2B5EF4-FFF2-40B4-BE49-F238E27FC236}">
                  <a16:creationId xmlns:a16="http://schemas.microsoft.com/office/drawing/2014/main" id="{25131607-BF5E-F6A8-C261-3B5A931C1013}"/>
                </a:ext>
              </a:extLst>
            </p:cNvPr>
            <p:cNvCxnSpPr>
              <a:cxnSpLocks/>
            </p:cNvCxnSpPr>
            <p:nvPr/>
          </p:nvCxnSpPr>
          <p:spPr>
            <a:xfrm>
              <a:off x="4023360" y="1906327"/>
              <a:ext cx="3872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رابط كسهم مستقيم 13">
              <a:extLst>
                <a:ext uri="{FF2B5EF4-FFF2-40B4-BE49-F238E27FC236}">
                  <a16:creationId xmlns:a16="http://schemas.microsoft.com/office/drawing/2014/main" id="{26889FAB-5CF4-E80A-5450-DE007C113B57}"/>
                </a:ext>
              </a:extLst>
            </p:cNvPr>
            <p:cNvCxnSpPr>
              <a:cxnSpLocks/>
            </p:cNvCxnSpPr>
            <p:nvPr/>
          </p:nvCxnSpPr>
          <p:spPr>
            <a:xfrm>
              <a:off x="6251986" y="1906327"/>
              <a:ext cx="3872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">
            <a:extLst>
              <a:ext uri="{FF2B5EF4-FFF2-40B4-BE49-F238E27FC236}">
                <a16:creationId xmlns:a16="http://schemas.microsoft.com/office/drawing/2014/main" id="{DC6455D9-E0DA-D623-C3AA-447DF1356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747" y="2309682"/>
            <a:ext cx="4760501" cy="1703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  <a:cs typeface="Arial" panose="020B0604020202020204" pitchFamily="34" charset="0"/>
              </a:rPr>
              <a:t>Environment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  <a:cs typeface="Arial" panose="020B0604020202020204" pitchFamily="34" charset="0"/>
              </a:rPr>
              <a:t>: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  <a:cs typeface="Arial" panose="020B0604020202020204" pitchFamily="34" charset="0"/>
              </a:rPr>
              <a:t>grid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  <a:cs typeface="Arial" panose="020B0604020202020204" pitchFamily="34" charset="0"/>
              </a:rPr>
              <a:t>,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  <a:cs typeface="Arial" panose="020B0604020202020204" pitchFamily="34" charset="0"/>
              </a:rPr>
              <a:t>obstacles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  <a:cs typeface="Arial" panose="020B0604020202020204" pitchFamily="34" charset="0"/>
              </a:rPr>
              <a:t>,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  <a:cs typeface="Arial" panose="020B0604020202020204" pitchFamily="34" charset="0"/>
              </a:rPr>
              <a:t>goal</a:t>
            </a: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Book" panose="020B05030201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  <a:cs typeface="Arial" panose="020B0604020202020204" pitchFamily="34" charset="0"/>
              </a:rPr>
              <a:t>Robot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  <a:cs typeface="Arial" panose="020B0604020202020204" pitchFamily="34" charset="0"/>
              </a:rPr>
              <a:t>: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  <a:cs typeface="Arial" panose="020B0604020202020204" pitchFamily="34" charset="0"/>
              </a:rPr>
              <a:t>sensing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  <a:cs typeface="Arial" panose="020B0604020202020204" pitchFamily="34" charset="0"/>
              </a:rPr>
              <a:t>,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  <a:cs typeface="Arial" panose="020B0604020202020204" pitchFamily="34" charset="0"/>
              </a:rPr>
              <a:t>decision-making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  <a:cs typeface="Arial" panose="020B0604020202020204" pitchFamily="34" charset="0"/>
              </a:rPr>
              <a:t>,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  <a:cs typeface="Arial" panose="020B0604020202020204" pitchFamily="34" charset="0"/>
              </a:rPr>
              <a:t>movement</a:t>
            </a: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Book" panose="020B05030201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  <a:cs typeface="Arial" panose="020B0604020202020204" pitchFamily="34" charset="0"/>
              </a:rPr>
              <a:t>Simulation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  <a:cs typeface="Arial" panose="020B0604020202020204" pitchFamily="34" charset="0"/>
              </a:rPr>
              <a:t>: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  <a:cs typeface="Arial" panose="020B0604020202020204" pitchFamily="34" charset="0"/>
              </a:rPr>
              <a:t>controls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  <a:cs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  <a:cs typeface="Arial" panose="020B0604020202020204" pitchFamily="34" charset="0"/>
              </a:rPr>
              <a:t>execution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  <a:cs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  <a:cs typeface="Arial" panose="020B0604020202020204" pitchFamily="34" charset="0"/>
              </a:rPr>
              <a:t>loop</a:t>
            </a: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Book" panose="020B05030201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  <a:cs typeface="Arial" panose="020B0604020202020204" pitchFamily="34" charset="0"/>
              </a:rPr>
              <a:t>Visualizer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  <a:cs typeface="Arial" panose="020B0604020202020204" pitchFamily="34" charset="0"/>
              </a:rPr>
              <a:t>: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  <a:cs typeface="Arial" panose="020B0604020202020204" pitchFamily="34" charset="0"/>
              </a:rPr>
              <a:t>renders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  <a:cs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  <a:cs typeface="Arial" panose="020B0604020202020204" pitchFamily="34" charset="0"/>
              </a:rPr>
              <a:t>the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  <a:cs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  <a:cs typeface="Arial" panose="020B0604020202020204" pitchFamily="34" charset="0"/>
              </a:rPr>
              <a:t>system</a:t>
            </a: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Book" panose="020B05030201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>
          <a:extLst>
            <a:ext uri="{FF2B5EF4-FFF2-40B4-BE49-F238E27FC236}">
              <a16:creationId xmlns:a16="http://schemas.microsoft.com/office/drawing/2014/main" id="{0D2B111B-7940-6F98-1044-96CA258EC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">
            <a:extLst>
              <a:ext uri="{FF2B5EF4-FFF2-40B4-BE49-F238E27FC236}">
                <a16:creationId xmlns:a16="http://schemas.microsoft.com/office/drawing/2014/main" id="{C72F64BF-D2C6-0299-6E13-E27F161858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73044" y="27452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600" dirty="0">
                <a:latin typeface="Franklin Gothic Demi" panose="020B0703020102020204" pitchFamily="34" charset="0"/>
              </a:rPr>
              <a:t>System Architecture</a:t>
            </a:r>
            <a:endParaRPr sz="3600" dirty="0">
              <a:latin typeface="Franklin Gothic Demi" panose="020B0703020102020204" pitchFamily="34" charset="0"/>
            </a:endParaRP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1B40BEB3-5022-72C9-2A96-82BB687266B0}"/>
              </a:ext>
            </a:extLst>
          </p:cNvPr>
          <p:cNvSpPr txBox="1"/>
          <p:nvPr/>
        </p:nvSpPr>
        <p:spPr>
          <a:xfrm>
            <a:off x="1054250" y="1059237"/>
            <a:ext cx="2677336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000" dirty="0">
                <a:solidFill>
                  <a:srgbClr val="3C3C45"/>
                </a:solidFill>
                <a:latin typeface="Franklin Gothic Demi" panose="020B0703020102020204" pitchFamily="34" charset="0"/>
              </a:rPr>
              <a:t>Components Overview</a:t>
            </a:r>
            <a:endParaRPr lang="ar-SA" sz="2000" dirty="0">
              <a:solidFill>
                <a:srgbClr val="3C3C45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5" name="مستطيل 4">
            <a:extLst>
              <a:ext uri="{FF2B5EF4-FFF2-40B4-BE49-F238E27FC236}">
                <a16:creationId xmlns:a16="http://schemas.microsoft.com/office/drawing/2014/main" id="{05EB8409-CFC1-B6E5-D296-E0E27BDD7EFD}"/>
              </a:ext>
            </a:extLst>
          </p:cNvPr>
          <p:cNvSpPr/>
          <p:nvPr/>
        </p:nvSpPr>
        <p:spPr>
          <a:xfrm>
            <a:off x="562602" y="1534135"/>
            <a:ext cx="1732743" cy="572700"/>
          </a:xfrm>
          <a:prstGeom prst="rect">
            <a:avLst/>
          </a:prstGeom>
          <a:solidFill>
            <a:srgbClr val="130994">
              <a:alpha val="10196"/>
            </a:srgbClr>
          </a:solidFill>
          <a:ln w="762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Franklin Gothic Medium" panose="020B0603020102020204" pitchFamily="34" charset="0"/>
              </a:rPr>
              <a:t>Environment</a:t>
            </a:r>
            <a:r>
              <a:rPr lang="en-US" sz="2000" b="1" dirty="0">
                <a:latin typeface="Franklin Gothic Medium" panose="020B0603020102020204" pitchFamily="34" charset="0"/>
              </a:rPr>
              <a:t> </a:t>
            </a:r>
            <a:endParaRPr lang="ar-SA" sz="2000" b="1" dirty="0">
              <a:latin typeface="Franklin Gothic Medium" panose="020B0603020102020204" pitchFamily="34" charset="0"/>
            </a:endParaRPr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595EB383-1039-8F77-3372-4846AC924255}"/>
              </a:ext>
            </a:extLst>
          </p:cNvPr>
          <p:cNvSpPr/>
          <p:nvPr/>
        </p:nvSpPr>
        <p:spPr>
          <a:xfrm>
            <a:off x="2791228" y="1534135"/>
            <a:ext cx="1354433" cy="572700"/>
          </a:xfrm>
          <a:prstGeom prst="rect">
            <a:avLst/>
          </a:prstGeom>
          <a:solidFill>
            <a:srgbClr val="130994">
              <a:alpha val="10196"/>
            </a:srgbClr>
          </a:solidFill>
          <a:ln>
            <a:solidFill>
              <a:srgbClr val="1309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Franklin Gothic Medium" panose="020B0603020102020204" pitchFamily="34" charset="0"/>
              </a:rPr>
              <a:t>Robot</a:t>
            </a:r>
            <a:r>
              <a:rPr lang="en-US" sz="2000" dirty="0"/>
              <a:t> </a:t>
            </a:r>
            <a:r>
              <a:rPr lang="en-US" sz="2000" b="1" dirty="0">
                <a:latin typeface="Franklin Gothic Medium" panose="020B0603020102020204" pitchFamily="34" charset="0"/>
              </a:rPr>
              <a:t> </a:t>
            </a:r>
            <a:endParaRPr lang="ar-SA" sz="2000" b="1" dirty="0">
              <a:latin typeface="Franklin Gothic Medium" panose="020B0603020102020204" pitchFamily="34" charset="0"/>
            </a:endParaRP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836374C1-50D5-289C-9B32-1305F9354FBB}"/>
              </a:ext>
            </a:extLst>
          </p:cNvPr>
          <p:cNvSpPr/>
          <p:nvPr/>
        </p:nvSpPr>
        <p:spPr>
          <a:xfrm>
            <a:off x="4641544" y="1534135"/>
            <a:ext cx="1732743" cy="572700"/>
          </a:xfrm>
          <a:prstGeom prst="rect">
            <a:avLst/>
          </a:prstGeom>
          <a:solidFill>
            <a:srgbClr val="130994">
              <a:alpha val="10196"/>
            </a:srgbClr>
          </a:solidFill>
          <a:ln>
            <a:solidFill>
              <a:srgbClr val="1309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Franklin Gothic Medium" panose="020B0603020102020204" pitchFamily="34" charset="0"/>
              </a:rPr>
              <a:t>Simulation  </a:t>
            </a:r>
            <a:r>
              <a:rPr lang="en-US" sz="2000" b="1" dirty="0">
                <a:solidFill>
                  <a:schemeClr val="bg1">
                    <a:lumMod val="10000"/>
                  </a:schemeClr>
                </a:solidFill>
                <a:latin typeface="Franklin Gothic Medium" panose="020B0603020102020204" pitchFamily="34" charset="0"/>
              </a:rPr>
              <a:t> </a:t>
            </a:r>
            <a:endParaRPr lang="ar-SA" sz="2000" b="1" dirty="0">
              <a:solidFill>
                <a:schemeClr val="bg1">
                  <a:lumMod val="10000"/>
                </a:schemeClr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65FC301B-C890-F9AC-F2D4-06D307B6BE15}"/>
              </a:ext>
            </a:extLst>
          </p:cNvPr>
          <p:cNvSpPr/>
          <p:nvPr/>
        </p:nvSpPr>
        <p:spPr>
          <a:xfrm>
            <a:off x="6870170" y="1534135"/>
            <a:ext cx="1732743" cy="572700"/>
          </a:xfrm>
          <a:prstGeom prst="rect">
            <a:avLst/>
          </a:prstGeom>
          <a:solidFill>
            <a:srgbClr val="130994">
              <a:alpha val="10196"/>
            </a:srgbClr>
          </a:solidFill>
          <a:ln>
            <a:solidFill>
              <a:srgbClr val="1309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Franklin Gothic Medium" panose="020B0603020102020204" pitchFamily="34" charset="0"/>
              </a:rPr>
              <a:t>Visualizer  </a:t>
            </a:r>
            <a:r>
              <a:rPr lang="en-US" sz="2000" b="1" dirty="0">
                <a:solidFill>
                  <a:schemeClr val="bg1">
                    <a:lumMod val="10000"/>
                  </a:schemeClr>
                </a:solidFill>
                <a:latin typeface="Franklin Gothic Medium" panose="020B0603020102020204" pitchFamily="34" charset="0"/>
              </a:rPr>
              <a:t> </a:t>
            </a:r>
            <a:endParaRPr lang="ar-SA" sz="2000" b="1" dirty="0">
              <a:solidFill>
                <a:schemeClr val="bg1">
                  <a:lumMod val="10000"/>
                </a:schemeClr>
              </a:solidFill>
              <a:latin typeface="Franklin Gothic Medium" panose="020B0603020102020204" pitchFamily="34" charset="0"/>
            </a:endParaRPr>
          </a:p>
        </p:txBody>
      </p:sp>
      <p:cxnSp>
        <p:nvCxnSpPr>
          <p:cNvPr id="10" name="رابط كسهم مستقيم 9">
            <a:extLst>
              <a:ext uri="{FF2B5EF4-FFF2-40B4-BE49-F238E27FC236}">
                <a16:creationId xmlns:a16="http://schemas.microsoft.com/office/drawing/2014/main" id="{56B8B621-CD07-3F0A-04E4-930D63186DCB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295345" y="1820485"/>
            <a:ext cx="387276" cy="0"/>
          </a:xfrm>
          <a:prstGeom prst="straightConnector1">
            <a:avLst/>
          </a:prstGeom>
          <a:ln>
            <a:solidFill>
              <a:srgbClr val="1309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رابط كسهم مستقيم 12">
            <a:extLst>
              <a:ext uri="{FF2B5EF4-FFF2-40B4-BE49-F238E27FC236}">
                <a16:creationId xmlns:a16="http://schemas.microsoft.com/office/drawing/2014/main" id="{0B227A16-0AD7-E774-3CBC-14ABBA3DD3B6}"/>
              </a:ext>
            </a:extLst>
          </p:cNvPr>
          <p:cNvCxnSpPr>
            <a:cxnSpLocks/>
          </p:cNvCxnSpPr>
          <p:nvPr/>
        </p:nvCxnSpPr>
        <p:spPr>
          <a:xfrm>
            <a:off x="4145661" y="1820485"/>
            <a:ext cx="387276" cy="0"/>
          </a:xfrm>
          <a:prstGeom prst="straightConnector1">
            <a:avLst/>
          </a:prstGeom>
          <a:ln>
            <a:solidFill>
              <a:srgbClr val="1309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رابط كسهم مستقيم 13">
            <a:extLst>
              <a:ext uri="{FF2B5EF4-FFF2-40B4-BE49-F238E27FC236}">
                <a16:creationId xmlns:a16="http://schemas.microsoft.com/office/drawing/2014/main" id="{696282EF-F152-50B2-E534-00CCD01D3539}"/>
              </a:ext>
            </a:extLst>
          </p:cNvPr>
          <p:cNvCxnSpPr>
            <a:cxnSpLocks/>
          </p:cNvCxnSpPr>
          <p:nvPr/>
        </p:nvCxnSpPr>
        <p:spPr>
          <a:xfrm>
            <a:off x="6374287" y="1820485"/>
            <a:ext cx="387276" cy="0"/>
          </a:xfrm>
          <a:prstGeom prst="straightConnector1">
            <a:avLst/>
          </a:prstGeom>
          <a:ln>
            <a:solidFill>
              <a:srgbClr val="1309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صورة 16">
            <a:extLst>
              <a:ext uri="{FF2B5EF4-FFF2-40B4-BE49-F238E27FC236}">
                <a16:creationId xmlns:a16="http://schemas.microsoft.com/office/drawing/2014/main" id="{CD00CDD2-BAF6-EFA0-0F13-6C5E15BB0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324" y="2948760"/>
            <a:ext cx="5464013" cy="1470787"/>
          </a:xfrm>
          <a:prstGeom prst="rect">
            <a:avLst/>
          </a:prstGeom>
        </p:spPr>
      </p:pic>
      <p:pic>
        <p:nvPicPr>
          <p:cNvPr id="9" name="صورة 8">
            <a:extLst>
              <a:ext uri="{FF2B5EF4-FFF2-40B4-BE49-F238E27FC236}">
                <a16:creationId xmlns:a16="http://schemas.microsoft.com/office/drawing/2014/main" id="{59910D22-2E16-AB30-ADA0-9CE962F52E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491" y="3024967"/>
            <a:ext cx="2187130" cy="131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092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>
          <a:extLst>
            <a:ext uri="{FF2B5EF4-FFF2-40B4-BE49-F238E27FC236}">
              <a16:creationId xmlns:a16="http://schemas.microsoft.com/office/drawing/2014/main" id="{8437B2A4-D60A-0BDB-7F93-DC1871A65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4">
            <a:extLst>
              <a:ext uri="{FF2B5EF4-FFF2-40B4-BE49-F238E27FC236}">
                <a16:creationId xmlns:a16="http://schemas.microsoft.com/office/drawing/2014/main" id="{EFE95517-0AE3-7BC3-E395-4030F10A51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6136" y="282081"/>
            <a:ext cx="7867113" cy="10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dirty="0">
                <a:latin typeface="Franklin Gothic Demi" panose="020B0703020102020204" pitchFamily="34" charset="0"/>
              </a:rPr>
              <a:t>Robot Model &amp; environment</a:t>
            </a:r>
            <a:endParaRPr sz="3600" dirty="0">
              <a:latin typeface="Franklin Gothic Demi" panose="020B0703020102020204" pitchFamily="34" charset="0"/>
              <a:cs typeface="+mj-cs"/>
            </a:endParaRPr>
          </a:p>
        </p:txBody>
      </p:sp>
      <p:sp>
        <p:nvSpPr>
          <p:cNvPr id="440" name="Google Shape;440;p44">
            <a:extLst>
              <a:ext uri="{FF2B5EF4-FFF2-40B4-BE49-F238E27FC236}">
                <a16:creationId xmlns:a16="http://schemas.microsoft.com/office/drawing/2014/main" id="{F96B0885-3EF1-223B-3DA7-3B9D0F23765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952658" y="352518"/>
            <a:ext cx="1133478" cy="906127"/>
          </a:xfrm>
          <a:prstGeom prst="rect">
            <a:avLst/>
          </a:prstGeom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03</a:t>
            </a:r>
            <a:endParaRPr dirty="0"/>
          </a:p>
        </p:txBody>
      </p:sp>
      <p:pic>
        <p:nvPicPr>
          <p:cNvPr id="442" name="Google Shape;442;p44">
            <a:extLst>
              <a:ext uri="{FF2B5EF4-FFF2-40B4-BE49-F238E27FC236}">
                <a16:creationId xmlns:a16="http://schemas.microsoft.com/office/drawing/2014/main" id="{4EB8A681-6636-9835-F165-2D58DEF03A9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9097" r="5042" b="2954"/>
          <a:stretch/>
        </p:blipFill>
        <p:spPr>
          <a:xfrm flipH="1">
            <a:off x="4967856" y="0"/>
            <a:ext cx="3716124" cy="9588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3" name="Google Shape;443;p44">
            <a:extLst>
              <a:ext uri="{FF2B5EF4-FFF2-40B4-BE49-F238E27FC236}">
                <a16:creationId xmlns:a16="http://schemas.microsoft.com/office/drawing/2014/main" id="{824A0A39-38BD-EB8B-9627-46CCE5E78F0E}"/>
              </a:ext>
            </a:extLst>
          </p:cNvPr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444" name="Google Shape;444;p44">
              <a:extLst>
                <a:ext uri="{FF2B5EF4-FFF2-40B4-BE49-F238E27FC236}">
                  <a16:creationId xmlns:a16="http://schemas.microsoft.com/office/drawing/2014/main" id="{3D86DD1E-4EC2-26C0-A69F-DCBCF3896874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t="1400" r="83035" b="-1399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5" name="Google Shape;445;p44">
              <a:extLst>
                <a:ext uri="{FF2B5EF4-FFF2-40B4-BE49-F238E27FC236}">
                  <a16:creationId xmlns:a16="http://schemas.microsoft.com/office/drawing/2014/main" id="{A515952A-44B4-F363-AF34-1C1686116E46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t="1400" r="83035" b="-1399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9996929-E672-1A20-04C5-E8F80ABFE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746" y="1267164"/>
            <a:ext cx="6249649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</a:rPr>
              <a:t>Position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</a:rPr>
              <a:t> (x, y) </a:t>
            </a:r>
            <a:endParaRPr lang="ar-SA" altLang="ar-SA" sz="1800" dirty="0">
              <a:solidFill>
                <a:schemeClr val="tx1"/>
              </a:solidFill>
              <a:latin typeface="Franklin Gothic Book" panose="020B0503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</a:rPr>
              <a:t>Direction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</a:rPr>
              <a:t> (NORTH, EAST, SOUTH, WEST)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</a:rPr>
              <a:t>States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</a:rPr>
              <a:t>: IDLE, MOVING, AVOIDING, FINISHED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</a:rPr>
              <a:t>Sensors</a:t>
            </a:r>
            <a:r>
              <a:rPr lang="en-US" altLang="ar-SA" sz="1800" dirty="0">
                <a:solidFill>
                  <a:schemeClr val="tx1"/>
                </a:solidFill>
                <a:latin typeface="Franklin Gothic Book" panose="020B0503020102020204" pitchFamily="34" charset="0"/>
              </a:rPr>
              <a:t>: front sensor, 360 sensor(all direction)</a:t>
            </a: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Book" panose="020B0503020102020204" pitchFamily="34" charset="0"/>
            </a:endParaRPr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BFEED0DA-4D80-41CA-756E-DAE9886282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877" y="3024821"/>
            <a:ext cx="3650262" cy="1407330"/>
          </a:xfrm>
          <a:prstGeom prst="rect">
            <a:avLst/>
          </a:prstGeom>
        </p:spPr>
      </p:pic>
      <p:pic>
        <p:nvPicPr>
          <p:cNvPr id="7" name="صورة 6">
            <a:extLst>
              <a:ext uri="{FF2B5EF4-FFF2-40B4-BE49-F238E27FC236}">
                <a16:creationId xmlns:a16="http://schemas.microsoft.com/office/drawing/2014/main" id="{34346D72-8891-B973-8981-7DB4D992FD6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" r="20938"/>
          <a:stretch>
            <a:fillRect/>
          </a:stretch>
        </p:blipFill>
        <p:spPr>
          <a:xfrm>
            <a:off x="4886104" y="3095257"/>
            <a:ext cx="3440316" cy="130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856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>
          <a:extLst>
            <a:ext uri="{FF2B5EF4-FFF2-40B4-BE49-F238E27FC236}">
              <a16:creationId xmlns:a16="http://schemas.microsoft.com/office/drawing/2014/main" id="{83FEB6BE-2AAD-1668-B1A6-DFC38E3B7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4">
            <a:extLst>
              <a:ext uri="{FF2B5EF4-FFF2-40B4-BE49-F238E27FC236}">
                <a16:creationId xmlns:a16="http://schemas.microsoft.com/office/drawing/2014/main" id="{3EDF9EE4-818F-DEEA-3140-356F755876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6136" y="282081"/>
            <a:ext cx="7867113" cy="10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dirty="0">
                <a:latin typeface="Franklin Gothic Demi" panose="020B0703020102020204" pitchFamily="34" charset="0"/>
              </a:rPr>
              <a:t>Robot Model &amp; environment</a:t>
            </a:r>
            <a:endParaRPr sz="3600" dirty="0">
              <a:latin typeface="Franklin Gothic Demi" panose="020B0703020102020204" pitchFamily="34" charset="0"/>
              <a:cs typeface="+mj-cs"/>
            </a:endParaRPr>
          </a:p>
        </p:txBody>
      </p:sp>
      <p:sp>
        <p:nvSpPr>
          <p:cNvPr id="440" name="Google Shape;440;p44">
            <a:extLst>
              <a:ext uri="{FF2B5EF4-FFF2-40B4-BE49-F238E27FC236}">
                <a16:creationId xmlns:a16="http://schemas.microsoft.com/office/drawing/2014/main" id="{413C4A3D-B3AD-31F2-2561-EEF278CDBC5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952658" y="352518"/>
            <a:ext cx="1133478" cy="906127"/>
          </a:xfrm>
          <a:prstGeom prst="rect">
            <a:avLst/>
          </a:prstGeom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03</a:t>
            </a:r>
            <a:endParaRPr dirty="0"/>
          </a:p>
        </p:txBody>
      </p:sp>
      <p:pic>
        <p:nvPicPr>
          <p:cNvPr id="442" name="Google Shape;442;p44">
            <a:extLst>
              <a:ext uri="{FF2B5EF4-FFF2-40B4-BE49-F238E27FC236}">
                <a16:creationId xmlns:a16="http://schemas.microsoft.com/office/drawing/2014/main" id="{578ED0E3-D18B-027E-1120-DE3ED61351F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9097" r="5042" b="2954"/>
          <a:stretch/>
        </p:blipFill>
        <p:spPr>
          <a:xfrm flipH="1">
            <a:off x="5871498" y="-232561"/>
            <a:ext cx="3716124" cy="958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44">
            <a:extLst>
              <a:ext uri="{FF2B5EF4-FFF2-40B4-BE49-F238E27FC236}">
                <a16:creationId xmlns:a16="http://schemas.microsoft.com/office/drawing/2014/main" id="{CB57C652-DDA2-FB0F-7467-53ED87DC1E5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400" r="83035" b="-1399"/>
          <a:stretch/>
        </p:blipFill>
        <p:spPr>
          <a:xfrm>
            <a:off x="8577262" y="0"/>
            <a:ext cx="1133476" cy="50041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83ACC8B-E3D6-0F1E-5D3B-F7FBDBD97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877" y="1329081"/>
            <a:ext cx="6249649" cy="456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</a:rPr>
              <a:t>Sensors</a:t>
            </a:r>
            <a:r>
              <a:rPr lang="en-US" altLang="ar-SA" sz="1800" dirty="0">
                <a:solidFill>
                  <a:schemeClr val="tx1"/>
                </a:solidFill>
                <a:latin typeface="Franklin Gothic Book" panose="020B0503020102020204" pitchFamily="34" charset="0"/>
              </a:rPr>
              <a:t>: front sensor, 360 sensor(all direction)</a:t>
            </a: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Book" panose="020B0503020102020204" pitchFamily="34" charset="0"/>
            </a:endParaRPr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D0399D2C-EBAE-8AA7-DF68-635756AABB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603" y="1996541"/>
            <a:ext cx="3778818" cy="1876556"/>
          </a:xfrm>
          <a:prstGeom prst="rect">
            <a:avLst/>
          </a:prstGeom>
        </p:spPr>
      </p:pic>
      <p:pic>
        <p:nvPicPr>
          <p:cNvPr id="10" name="صورة 9">
            <a:extLst>
              <a:ext uri="{FF2B5EF4-FFF2-40B4-BE49-F238E27FC236}">
                <a16:creationId xmlns:a16="http://schemas.microsoft.com/office/drawing/2014/main" id="{834F19D9-B3BF-FD94-9C52-9D985E4934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9876" y="1786001"/>
            <a:ext cx="4023709" cy="2598645"/>
          </a:xfrm>
          <a:prstGeom prst="rect">
            <a:avLst/>
          </a:prstGeom>
        </p:spPr>
      </p:pic>
      <p:sp>
        <p:nvSpPr>
          <p:cNvPr id="12" name="مربع نص 11">
            <a:extLst>
              <a:ext uri="{FF2B5EF4-FFF2-40B4-BE49-F238E27FC236}">
                <a16:creationId xmlns:a16="http://schemas.microsoft.com/office/drawing/2014/main" id="{5E65D28D-0135-811D-AF99-240E8E991937}"/>
              </a:ext>
            </a:extLst>
          </p:cNvPr>
          <p:cNvSpPr txBox="1"/>
          <p:nvPr/>
        </p:nvSpPr>
        <p:spPr>
          <a:xfrm>
            <a:off x="4266701" y="4463318"/>
            <a:ext cx="49754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Used for debugging code and test robot behavior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920648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>
          <a:extLst>
            <a:ext uri="{FF2B5EF4-FFF2-40B4-BE49-F238E27FC236}">
              <a16:creationId xmlns:a16="http://schemas.microsoft.com/office/drawing/2014/main" id="{187358B2-94B8-98A9-0E73-65661D96A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4">
            <a:extLst>
              <a:ext uri="{FF2B5EF4-FFF2-40B4-BE49-F238E27FC236}">
                <a16:creationId xmlns:a16="http://schemas.microsoft.com/office/drawing/2014/main" id="{9D35AF84-AEA6-6C39-19D6-8CCD14AD2C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6136" y="282081"/>
            <a:ext cx="7867113" cy="10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dirty="0">
                <a:latin typeface="Franklin Gothic Demi" panose="020B0703020102020204" pitchFamily="34" charset="0"/>
              </a:rPr>
              <a:t>Robot Model &amp; environment</a:t>
            </a:r>
            <a:endParaRPr sz="3600" dirty="0">
              <a:latin typeface="Franklin Gothic Demi" panose="020B0703020102020204" pitchFamily="34" charset="0"/>
              <a:cs typeface="+mj-cs"/>
            </a:endParaRPr>
          </a:p>
        </p:txBody>
      </p:sp>
      <p:sp>
        <p:nvSpPr>
          <p:cNvPr id="440" name="Google Shape;440;p44">
            <a:extLst>
              <a:ext uri="{FF2B5EF4-FFF2-40B4-BE49-F238E27FC236}">
                <a16:creationId xmlns:a16="http://schemas.microsoft.com/office/drawing/2014/main" id="{BFF2843F-F3F0-32AC-CC1F-CC7B7BD14CD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952658" y="352518"/>
            <a:ext cx="1133478" cy="906127"/>
          </a:xfrm>
          <a:prstGeom prst="rect">
            <a:avLst/>
          </a:prstGeom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03</a:t>
            </a:r>
            <a:endParaRPr dirty="0"/>
          </a:p>
        </p:txBody>
      </p:sp>
      <p:pic>
        <p:nvPicPr>
          <p:cNvPr id="442" name="Google Shape;442;p44">
            <a:extLst>
              <a:ext uri="{FF2B5EF4-FFF2-40B4-BE49-F238E27FC236}">
                <a16:creationId xmlns:a16="http://schemas.microsoft.com/office/drawing/2014/main" id="{3D063E56-3DD7-3EAC-DD51-3E98BC52FE7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9097" r="5042" b="2954"/>
          <a:stretch/>
        </p:blipFill>
        <p:spPr>
          <a:xfrm flipH="1">
            <a:off x="5871498" y="-232561"/>
            <a:ext cx="3716124" cy="958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44">
            <a:extLst>
              <a:ext uri="{FF2B5EF4-FFF2-40B4-BE49-F238E27FC236}">
                <a16:creationId xmlns:a16="http://schemas.microsoft.com/office/drawing/2014/main" id="{EB025D28-4567-6ACF-10DA-157B858FC0D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400" r="83035" b="-1399"/>
          <a:stretch/>
        </p:blipFill>
        <p:spPr>
          <a:xfrm>
            <a:off x="8577262" y="0"/>
            <a:ext cx="1133476" cy="50041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D16FB81-3660-CB8C-CF7F-F1AABC029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8101" y="1177665"/>
            <a:ext cx="6249649" cy="456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</a:rPr>
              <a:t>Sensors</a:t>
            </a:r>
            <a:r>
              <a:rPr lang="en-US" altLang="ar-SA" sz="1800" dirty="0">
                <a:solidFill>
                  <a:schemeClr val="tx1"/>
                </a:solidFill>
                <a:latin typeface="Franklin Gothic Book" panose="020B0503020102020204" pitchFamily="34" charset="0"/>
              </a:rPr>
              <a:t>: front sensor, 360 sensor(all direction)</a:t>
            </a: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Book" panose="020B0503020102020204" pitchFamily="34" charset="0"/>
            </a:endParaRPr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96659FC5-BFAE-81BB-1F4A-8F31D77C1C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653" y="1723446"/>
            <a:ext cx="1832300" cy="909918"/>
          </a:xfrm>
          <a:prstGeom prst="rect">
            <a:avLst/>
          </a:prstGeom>
        </p:spPr>
      </p:pic>
      <p:pic>
        <p:nvPicPr>
          <p:cNvPr id="8" name="صورة 7">
            <a:extLst>
              <a:ext uri="{FF2B5EF4-FFF2-40B4-BE49-F238E27FC236}">
                <a16:creationId xmlns:a16="http://schemas.microsoft.com/office/drawing/2014/main" id="{193C85FD-D3D8-BC5F-E89C-A2B9D58168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6100" y="1716201"/>
            <a:ext cx="5502117" cy="2187130"/>
          </a:xfrm>
          <a:prstGeom prst="rect">
            <a:avLst/>
          </a:prstGeom>
          <a:ln w="38100">
            <a:solidFill>
              <a:schemeClr val="accent5">
                <a:lumMod val="65000"/>
              </a:schemeClr>
            </a:solidFill>
          </a:ln>
        </p:spPr>
      </p:pic>
      <p:pic>
        <p:nvPicPr>
          <p:cNvPr id="10" name="صورة 9">
            <a:extLst>
              <a:ext uri="{FF2B5EF4-FFF2-40B4-BE49-F238E27FC236}">
                <a16:creationId xmlns:a16="http://schemas.microsoft.com/office/drawing/2014/main" id="{C4237948-6A3F-354D-F250-5FEF429866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836" y="2723727"/>
            <a:ext cx="1832300" cy="1183360"/>
          </a:xfrm>
          <a:prstGeom prst="rect">
            <a:avLst/>
          </a:prstGeom>
        </p:spPr>
      </p:pic>
      <p:sp>
        <p:nvSpPr>
          <p:cNvPr id="5" name="مربع نص 4">
            <a:extLst>
              <a:ext uri="{FF2B5EF4-FFF2-40B4-BE49-F238E27FC236}">
                <a16:creationId xmlns:a16="http://schemas.microsoft.com/office/drawing/2014/main" id="{C43AFF72-9F4E-B8F6-EAE5-47D2A5D1FFD3}"/>
              </a:ext>
            </a:extLst>
          </p:cNvPr>
          <p:cNvSpPr txBox="1"/>
          <p:nvPr/>
        </p:nvSpPr>
        <p:spPr>
          <a:xfrm>
            <a:off x="2296377" y="3984947"/>
            <a:ext cx="4551246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Check all cells around the robot depending on direction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263972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>
          <a:extLst>
            <a:ext uri="{FF2B5EF4-FFF2-40B4-BE49-F238E27FC236}">
              <a16:creationId xmlns:a16="http://schemas.microsoft.com/office/drawing/2014/main" id="{1FBEEDF3-D061-8386-B8BD-5815D7303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5">
            <a:extLst>
              <a:ext uri="{FF2B5EF4-FFF2-40B4-BE49-F238E27FC236}">
                <a16:creationId xmlns:a16="http://schemas.microsoft.com/office/drawing/2014/main" id="{FE9084C6-F19B-D767-6BEE-5DD99F5427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45157" y="228316"/>
            <a:ext cx="609958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latin typeface="Franklin Gothic Medium" panose="020B0603020102020204" pitchFamily="34" charset="0"/>
              </a:rPr>
              <a:t>Algorithms &amp; Simulation - </a:t>
            </a:r>
            <a:r>
              <a:rPr lang="en-US" sz="2400" dirty="0">
                <a:latin typeface="Franklin Gothic Medium" panose="020B0603020102020204" pitchFamily="34" charset="0"/>
              </a:rPr>
              <a:t>Path Planning</a:t>
            </a:r>
            <a:endParaRPr lang="en-US" sz="2400" b="0" dirty="0">
              <a:latin typeface="Franklin Gothic Medium" panose="020B0603020102020204" pitchFamily="34" charset="0"/>
            </a:endParaRP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F08329BB-FA7F-BEAF-C6B4-C89AD9AE19B9}"/>
              </a:ext>
            </a:extLst>
          </p:cNvPr>
          <p:cNvSpPr txBox="1"/>
          <p:nvPr/>
        </p:nvSpPr>
        <p:spPr>
          <a:xfrm>
            <a:off x="416054" y="1173442"/>
            <a:ext cx="2079415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400" b="1" dirty="0">
                <a:latin typeface="Franklin Gothic Medium" panose="020B0603020102020204" pitchFamily="34" charset="0"/>
              </a:rPr>
              <a:t>BFS Algorithm</a:t>
            </a:r>
            <a:endParaRPr lang="ar-SA" sz="2400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FE4318F-5D01-A512-CBF4-3DF9812BE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186" y="1662430"/>
            <a:ext cx="5795184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Finds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shortest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path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robot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goal</a:t>
            </a: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Recalculates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if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path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blocked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or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completed</a:t>
            </a: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Uses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queue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deque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explore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grid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level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level</a:t>
            </a: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391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>
          <a:extLst>
            <a:ext uri="{FF2B5EF4-FFF2-40B4-BE49-F238E27FC236}">
              <a16:creationId xmlns:a16="http://schemas.microsoft.com/office/drawing/2014/main" id="{DC60B51D-AC1A-63FC-DB17-967FAF653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5">
            <a:extLst>
              <a:ext uri="{FF2B5EF4-FFF2-40B4-BE49-F238E27FC236}">
                <a16:creationId xmlns:a16="http://schemas.microsoft.com/office/drawing/2014/main" id="{344F526B-544E-61CA-2510-FC357CCA41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45157" y="228316"/>
            <a:ext cx="609958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latin typeface="Franklin Gothic Medium" panose="020B0603020102020204" pitchFamily="34" charset="0"/>
              </a:rPr>
              <a:t>Algorithms &amp; Simulation - </a:t>
            </a:r>
            <a:r>
              <a:rPr lang="en-US" sz="2400" dirty="0">
                <a:latin typeface="Franklin Gothic Medium" panose="020B0603020102020204" pitchFamily="34" charset="0"/>
              </a:rPr>
              <a:t>Path Planning</a:t>
            </a:r>
            <a:endParaRPr lang="en-US" sz="2400" b="0" dirty="0">
              <a:latin typeface="Franklin Gothic Medium" panose="020B0603020102020204" pitchFamily="34" charset="0"/>
            </a:endParaRP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C3C3E306-F764-C96B-B7E4-AB0F4961E40B}"/>
              </a:ext>
            </a:extLst>
          </p:cNvPr>
          <p:cNvSpPr txBox="1"/>
          <p:nvPr/>
        </p:nvSpPr>
        <p:spPr>
          <a:xfrm>
            <a:off x="329993" y="843949"/>
            <a:ext cx="2079415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400" b="1" dirty="0">
                <a:latin typeface="Franklin Gothic Medium" panose="020B0603020102020204" pitchFamily="34" charset="0"/>
              </a:rPr>
              <a:t>BFS Algorithm</a:t>
            </a:r>
            <a:endParaRPr lang="ar-SA" sz="2400" b="1" dirty="0"/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511C20D0-1D92-B8C2-5B2D-D82849DC5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4293" y="1001067"/>
            <a:ext cx="4509655" cy="21185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DE02FB-CE6D-B726-4E8B-6D4CF9910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871" y="3222883"/>
            <a:ext cx="5883150" cy="15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900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5"/>
          <p:cNvSpPr txBox="1">
            <a:spLocks noGrp="1"/>
          </p:cNvSpPr>
          <p:nvPr>
            <p:ph type="title"/>
          </p:nvPr>
        </p:nvSpPr>
        <p:spPr>
          <a:xfrm>
            <a:off x="2860771" y="10078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latin typeface="Franklin Gothic Demi Cond" panose="020B0706030402020204" pitchFamily="34" charset="0"/>
              </a:rPr>
              <a:t>Decision-Making Logic</a:t>
            </a:r>
            <a:br>
              <a:rPr lang="en-US" dirty="0">
                <a:latin typeface="Franklin Gothic Demi Cond" panose="020B0706030402020204" pitchFamily="34" charset="0"/>
              </a:rPr>
            </a:br>
            <a:endParaRPr lang="en-US" sz="2400" b="0" dirty="0">
              <a:latin typeface="Franklin Gothic Medium" panose="020B06030201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CDDD0B-CBD0-22E4-7E50-D23FFAB3D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159" y="1336312"/>
            <a:ext cx="609958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  <a:cs typeface="+mj-cs"/>
              </a:rPr>
              <a:t>IDLE → MOVING → AVOIDING → FINISHED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  <a:cs typeface="+mj-cs"/>
              </a:rPr>
              <a:t>Transitions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  <a:cs typeface="+mj-cs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  <a:cs typeface="+mj-cs"/>
              </a:rPr>
              <a:t>based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  <a:cs typeface="+mj-cs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  <a:cs typeface="+mj-cs"/>
              </a:rPr>
              <a:t>on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  <a:cs typeface="+mj-cs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  <a:cs typeface="+mj-cs"/>
              </a:rPr>
              <a:t>sensor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  <a:cs typeface="+mj-cs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  <a:cs typeface="+mj-cs"/>
              </a:rPr>
              <a:t>input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  <a:cs typeface="+mj-cs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  <a:cs typeface="+mj-cs"/>
              </a:rPr>
              <a:t>or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  <a:cs typeface="+mj-cs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  <a:cs typeface="+mj-cs"/>
              </a:rPr>
              <a:t>path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  <a:cs typeface="+mj-cs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  <a:cs typeface="+mj-cs"/>
              </a:rPr>
              <a:t>completion</a:t>
            </a: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Arial" panose="020B0604020202020204" pitchFamily="34" charset="0"/>
              <a:cs typeface="+mj-cs"/>
            </a:endParaRP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2AE13096-9619-5806-494A-A184C827A214}"/>
              </a:ext>
            </a:extLst>
          </p:cNvPr>
          <p:cNvSpPr txBox="1"/>
          <p:nvPr/>
        </p:nvSpPr>
        <p:spPr>
          <a:xfrm>
            <a:off x="559398" y="874647"/>
            <a:ext cx="3741730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400" b="1" dirty="0">
                <a:latin typeface="Franklin Gothic Medium" panose="020B0603020102020204" pitchFamily="34" charset="0"/>
              </a:rPr>
              <a:t>Finite State Machine (FSM)</a:t>
            </a:r>
            <a:endParaRPr lang="ar-SA" sz="2400" b="1" dirty="0"/>
          </a:p>
        </p:txBody>
      </p:sp>
      <p:pic>
        <p:nvPicPr>
          <p:cNvPr id="9" name="صورة 8">
            <a:extLst>
              <a:ext uri="{FF2B5EF4-FFF2-40B4-BE49-F238E27FC236}">
                <a16:creationId xmlns:a16="http://schemas.microsoft.com/office/drawing/2014/main" id="{C2D83EA8-A5CE-918B-ACA3-75445F3D6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68" y="2399501"/>
            <a:ext cx="3701367" cy="1270140"/>
          </a:xfrm>
          <a:prstGeom prst="rect">
            <a:avLst/>
          </a:prstGeom>
        </p:spPr>
      </p:pic>
      <p:pic>
        <p:nvPicPr>
          <p:cNvPr id="13" name="صورة 12">
            <a:extLst>
              <a:ext uri="{FF2B5EF4-FFF2-40B4-BE49-F238E27FC236}">
                <a16:creationId xmlns:a16="http://schemas.microsoft.com/office/drawing/2014/main" id="{661DF6AD-8932-565A-BFCB-AC3B0A3FC2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004" y="2199161"/>
            <a:ext cx="4252328" cy="24233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>
          <a:extLst>
            <a:ext uri="{FF2B5EF4-FFF2-40B4-BE49-F238E27FC236}">
              <a16:creationId xmlns:a16="http://schemas.microsoft.com/office/drawing/2014/main" id="{CF6C2625-C0EB-4924-9F63-010EC1C79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5">
            <a:extLst>
              <a:ext uri="{FF2B5EF4-FFF2-40B4-BE49-F238E27FC236}">
                <a16:creationId xmlns:a16="http://schemas.microsoft.com/office/drawing/2014/main" id="{A8F34717-F7B0-02D2-52F8-65A7BD7A72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6974" y="323462"/>
            <a:ext cx="709005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latin typeface="Franklin Gothic Medium" panose="020B0603020102020204" pitchFamily="34" charset="0"/>
              </a:rPr>
              <a:t>Algorithms &amp; Simulation - </a:t>
            </a:r>
            <a:r>
              <a:rPr lang="en-US" sz="2400" dirty="0">
                <a:latin typeface="Franklin Gothic Medium" panose="020B0603020102020204" pitchFamily="34" charset="0"/>
              </a:rPr>
              <a:t>Obstacle Avoidance</a:t>
            </a:r>
            <a:endParaRPr lang="en-US" sz="2400" b="0" dirty="0">
              <a:latin typeface="Franklin Gothic Medium" panose="020B0603020102020204" pitchFamily="34" charset="0"/>
            </a:endParaRP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F3AC8D9D-6221-E188-B07B-175C135DB195}"/>
              </a:ext>
            </a:extLst>
          </p:cNvPr>
          <p:cNvSpPr txBox="1"/>
          <p:nvPr/>
        </p:nvSpPr>
        <p:spPr>
          <a:xfrm>
            <a:off x="763793" y="896162"/>
            <a:ext cx="2815194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400" b="1" dirty="0">
                <a:latin typeface="Franklin Gothic Medium" panose="020B0603020102020204" pitchFamily="34" charset="0"/>
              </a:rPr>
              <a:t>Reactive Navigation</a:t>
            </a:r>
            <a:endParaRPr lang="ar-SA" sz="24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FDD737-D1E5-423B-4400-F113D22B984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29322" y="1357827"/>
            <a:ext cx="788535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360degree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sensing</a:t>
            </a: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Priority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Right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Left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Forward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Backward</a:t>
            </a: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Switches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AVOIDING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blocked</a:t>
            </a: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صورة 5">
            <a:extLst>
              <a:ext uri="{FF2B5EF4-FFF2-40B4-BE49-F238E27FC236}">
                <a16:creationId xmlns:a16="http://schemas.microsoft.com/office/drawing/2014/main" id="{9DA07A4D-B902-E397-B9D4-AD06BB137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944" y="2174592"/>
            <a:ext cx="3595752" cy="26454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3C79654-D05C-1A2C-A388-66CA72F0F4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163" y="2603512"/>
            <a:ext cx="4724495" cy="204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398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>
          <a:extLst>
            <a:ext uri="{FF2B5EF4-FFF2-40B4-BE49-F238E27FC236}">
              <a16:creationId xmlns:a16="http://schemas.microsoft.com/office/drawing/2014/main" id="{DC898E42-74F6-A31D-6EC0-317364880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5">
            <a:extLst>
              <a:ext uri="{FF2B5EF4-FFF2-40B4-BE49-F238E27FC236}">
                <a16:creationId xmlns:a16="http://schemas.microsoft.com/office/drawing/2014/main" id="{E56862ED-226B-892D-C3CB-322EED9FC8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70927" y="90393"/>
            <a:ext cx="709005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latin typeface="Franklin Gothic Medium" panose="020B0603020102020204" pitchFamily="34" charset="0"/>
              </a:rPr>
              <a:t>Simulation class</a:t>
            </a:r>
            <a:endParaRPr lang="en-US" sz="2400" b="0" dirty="0">
              <a:latin typeface="Franklin Gothic Medium" panose="020B06030201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085D4A-4A32-8042-B163-1F9946F3259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84095" y="954650"/>
            <a:ext cx="467957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robot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step-by-step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continuously</a:t>
            </a: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Pygame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visualizer</a:t>
            </a: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Prints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position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</a:t>
            </a: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stops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simulation</a:t>
            </a: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FDFA2B-504C-46E0-0E2B-4025B598E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458" y="2446537"/>
            <a:ext cx="5121084" cy="188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368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>
          <a:extLst>
            <a:ext uri="{FF2B5EF4-FFF2-40B4-BE49-F238E27FC236}">
              <a16:creationId xmlns:a16="http://schemas.microsoft.com/office/drawing/2014/main" id="{B60E6A73-C600-B078-C1C0-283E5ED65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5">
            <a:extLst>
              <a:ext uri="{FF2B5EF4-FFF2-40B4-BE49-F238E27FC236}">
                <a16:creationId xmlns:a16="http://schemas.microsoft.com/office/drawing/2014/main" id="{1D237263-EA0D-2064-3D95-00A9CD8AA4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70927" y="90393"/>
            <a:ext cx="709005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latin typeface="Franklin Gothic Medium" panose="020B0603020102020204" pitchFamily="34" charset="0"/>
              </a:rPr>
              <a:t>Demo &amp; Conclusion</a:t>
            </a:r>
            <a:endParaRPr lang="en-US" sz="2400" b="0" dirty="0">
              <a:latin typeface="Franklin Gothic Medium" panose="020B0603020102020204" pitchFamily="34" charset="0"/>
            </a:endParaRP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6793D207-A15B-C72D-314C-FE5601BF5361}"/>
              </a:ext>
            </a:extLst>
          </p:cNvPr>
          <p:cNvSpPr txBox="1"/>
          <p:nvPr/>
        </p:nvSpPr>
        <p:spPr>
          <a:xfrm>
            <a:off x="763793" y="896162"/>
            <a:ext cx="1007007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400" dirty="0"/>
              <a:t>Demo</a:t>
            </a:r>
            <a:endParaRPr lang="ar-SA" sz="2400" b="1" dirty="0"/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E07E6FAE-F84C-E436-9070-01E0B6516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88" y="1357827"/>
            <a:ext cx="4953429" cy="31016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DA3990-9FCB-D9AE-72C5-22C06A943B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3153" y="1176650"/>
            <a:ext cx="3269059" cy="346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435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9" name="Google Shape;529;p51"/>
          <p:cNvGrpSpPr/>
          <p:nvPr/>
        </p:nvGrpSpPr>
        <p:grpSpPr>
          <a:xfrm>
            <a:off x="870025" y="401112"/>
            <a:ext cx="7404024" cy="4341275"/>
            <a:chOff x="870025" y="401112"/>
            <a:chExt cx="7404024" cy="4341275"/>
          </a:xfrm>
        </p:grpSpPr>
        <p:pic>
          <p:nvPicPr>
            <p:cNvPr id="530" name="Google Shape;530;p51"/>
            <p:cNvPicPr preferRelativeResize="0"/>
            <p:nvPr/>
          </p:nvPicPr>
          <p:blipFill rotWithShape="1">
            <a:blip r:embed="rId3">
              <a:alphaModFix amt="92000"/>
            </a:blip>
            <a:srcRect t="1319" b="-1319"/>
            <a:stretch/>
          </p:blipFill>
          <p:spPr>
            <a:xfrm>
              <a:off x="870025" y="401112"/>
              <a:ext cx="7404024" cy="4341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1" name="Google Shape;531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338164" y="539509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2" name="Google Shape;532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 flipH="1">
              <a:off x="3338164" y="4141059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3" name="Google Shape;533;p51"/>
          <p:cNvSpPr txBox="1">
            <a:spLocks noGrp="1"/>
          </p:cNvSpPr>
          <p:nvPr>
            <p:ph type="title"/>
          </p:nvPr>
        </p:nvSpPr>
        <p:spPr>
          <a:xfrm>
            <a:off x="2298600" y="1619250"/>
            <a:ext cx="4546800" cy="18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Any question?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chelor in Robotics Engineering by Slidesgo">
  <a:themeElements>
    <a:clrScheme name="Simple Light">
      <a:dk1>
        <a:srgbClr val="1F164D"/>
      </a:dk1>
      <a:lt1>
        <a:srgbClr val="F9F9F9"/>
      </a:lt1>
      <a:dk2>
        <a:srgbClr val="E8E8E8"/>
      </a:dk2>
      <a:lt2>
        <a:srgbClr val="C1C1C1"/>
      </a:lt2>
      <a:accent1>
        <a:srgbClr val="6F79E3"/>
      </a:accent1>
      <a:accent2>
        <a:srgbClr val="433ABA"/>
      </a:accent2>
      <a:accent3>
        <a:srgbClr val="130994"/>
      </a:accent3>
      <a:accent4>
        <a:srgbClr val="FFFFFF"/>
      </a:accent4>
      <a:accent5>
        <a:srgbClr val="FFFFFF"/>
      </a:accent5>
      <a:accent6>
        <a:srgbClr val="FFFFFF"/>
      </a:accent6>
      <a:hlink>
        <a:srgbClr val="1F16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299</Words>
  <Application>Microsoft Office PowerPoint</Application>
  <PresentationFormat>On-screen Show (16:9)</PresentationFormat>
  <Paragraphs>73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Franklin Gothic Medium</vt:lpstr>
      <vt:lpstr>Nunito Light</vt:lpstr>
      <vt:lpstr>Franklin Gothic Demi Cond</vt:lpstr>
      <vt:lpstr>Arial</vt:lpstr>
      <vt:lpstr>IBM Plex Mono</vt:lpstr>
      <vt:lpstr>Franklin Gothic Book</vt:lpstr>
      <vt:lpstr>Archivo</vt:lpstr>
      <vt:lpstr>Franklin Gothic Demi</vt:lpstr>
      <vt:lpstr>Bachelor in Robotics Engineering by Slidesgo</vt:lpstr>
      <vt:lpstr>Virtual Robot simulation</vt:lpstr>
      <vt:lpstr>contents</vt:lpstr>
      <vt:lpstr>Description and problem statment</vt:lpstr>
      <vt:lpstr>System &amp; Robot Design</vt:lpstr>
      <vt:lpstr>System Architecture</vt:lpstr>
      <vt:lpstr>System Architecture</vt:lpstr>
      <vt:lpstr>Robot Model &amp; environment</vt:lpstr>
      <vt:lpstr>Robot Model &amp; environment</vt:lpstr>
      <vt:lpstr>Robot Model &amp; environment</vt:lpstr>
      <vt:lpstr>Algorithms &amp; Simulation - Path Planning</vt:lpstr>
      <vt:lpstr>Algorithms &amp; Simulation - Path Planning</vt:lpstr>
      <vt:lpstr>Decision-Making Logic </vt:lpstr>
      <vt:lpstr>Algorithms &amp; Simulation - Obstacle Avoidance</vt:lpstr>
      <vt:lpstr>Simulation class</vt:lpstr>
      <vt:lpstr>Demo &amp; Conclusion</vt:lpstr>
      <vt:lpstr>Any question?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TOP</dc:creator>
  <cp:lastModifiedBy>Farah Mohammed</cp:lastModifiedBy>
  <cp:revision>40</cp:revision>
  <dcterms:modified xsi:type="dcterms:W3CDTF">2026-03-07T11:41:37Z</dcterms:modified>
</cp:coreProperties>
</file>